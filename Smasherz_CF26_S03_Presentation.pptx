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8288000" cy="10287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1702F4-C249-0AAD-0294-24F440F026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DEE32D-50CE-B640-F0B5-022A7FABF0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4BC38C-0EDA-AA89-F40E-52E69817B4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B3442-B362-46BB-F8C7-3F420775F3D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A72AB8-6FF0-1B0C-C2F9-9E8D8AC592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3F45C2-34B5-6C22-D8D8-02ADF4966D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82271-E7CF-CBFA-C590-9C47963419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6FDD4B-5E6C-D327-8617-5EC4CD3DF6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1C41FF-A6E7-2354-0E6D-62678E9E8A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AEEC50-4BFF-90E4-F03F-8C79FA5FF7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44150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189711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371182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9784978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1408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3579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640705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32221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69533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72350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061129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53395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965762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0680500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40924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4946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896408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030937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690611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34296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30328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0970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9896201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500684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4723548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3199213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751246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8969779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920738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6021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0254203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0000282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33106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05489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646600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113384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6858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68613461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03692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985823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0599092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60749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527977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146620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27538910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134015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5686151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09516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84720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939264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48974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392919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4604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5662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2122913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528643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979669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80243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66731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86763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781590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66141201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605640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3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4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17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6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jpg"/><Relationship Id="rId7" Type="http://schemas.openxmlformats.org/officeDocument/2006/relationships/image" Target="../media/image70.jp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hyperlink" Target="https://github.com/tushartiple24/CF26-S03-Smasherz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70824629" name="Group 2"/>
          <p:cNvGrpSpPr/>
          <p:nvPr/>
        </p:nvGrpSpPr>
        <p:grpSpPr bwMode="auto">
          <a:xfrm rot="0">
            <a:off x="-114300" y="-302647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216655" name="Group 4"/>
          <p:cNvGrpSpPr/>
          <p:nvPr/>
        </p:nvGrpSpPr>
        <p:grpSpPr bwMode="auto">
          <a:xfrm rot="0">
            <a:off x="800100" y="5977528"/>
            <a:ext cx="16687800" cy="1511618"/>
            <a:chOff x="0" y="0"/>
            <a:chExt cx="22250400" cy="2015490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22250400" cy="2015490"/>
            </a:xfrm>
            <a:custGeom>
              <a:avLst/>
              <a:gdLst/>
              <a:ahLst/>
              <a:cxnLst/>
              <a:rect l="l" t="t" r="r" b="b"/>
              <a:pathLst>
                <a:path w="22250400" h="2015490" fill="norm" stroke="1" extrusionOk="0">
                  <a:moveTo>
                    <a:pt x="0" y="0"/>
                  </a:moveTo>
                  <a:lnTo>
                    <a:pt x="22250400" y="0"/>
                  </a:lnTo>
                  <a:lnTo>
                    <a:pt x="22250400" y="2015490"/>
                  </a:lnTo>
                  <a:lnTo>
                    <a:pt x="0" y="201549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567" r="0" b="-566"/>
              </a:stretch>
            </a:blipFill>
          </p:spPr>
        </p:sp>
      </p:grpSp>
      <p:grpSp>
        <p:nvGrpSpPr>
          <p:cNvPr id="1392337767" name="Group 6"/>
          <p:cNvGrpSpPr/>
          <p:nvPr/>
        </p:nvGrpSpPr>
        <p:grpSpPr bwMode="auto">
          <a:xfrm rot="0">
            <a:off x="11601450" y="2411682"/>
            <a:ext cx="5886450" cy="1128712"/>
            <a:chOff x="0" y="0"/>
            <a:chExt cx="7848600" cy="1504950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7848600" cy="1504950"/>
            </a:xfrm>
            <a:custGeom>
              <a:avLst/>
              <a:gdLst/>
              <a:ahLst/>
              <a:cxnLst/>
              <a:rect l="l" t="t" r="r" b="b"/>
              <a:pathLst>
                <a:path w="7848600" h="1504950" fill="norm" stroke="1" extrusionOk="0">
                  <a:moveTo>
                    <a:pt x="0" y="0"/>
                  </a:moveTo>
                  <a:lnTo>
                    <a:pt x="7848600" y="0"/>
                  </a:lnTo>
                  <a:lnTo>
                    <a:pt x="7848600" y="1504950"/>
                  </a:lnTo>
                  <a:lnTo>
                    <a:pt x="0" y="15049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-632" r="0" b="-632"/>
              </a:stretch>
            </a:blipFill>
          </p:spPr>
        </p:sp>
      </p:grpSp>
      <p:grpSp>
        <p:nvGrpSpPr>
          <p:cNvPr id="1393741020" name="Group 8"/>
          <p:cNvGrpSpPr/>
          <p:nvPr/>
        </p:nvGrpSpPr>
        <p:grpSpPr bwMode="auto">
          <a:xfrm rot="0">
            <a:off x="800100" y="8386315"/>
            <a:ext cx="4000500" cy="1334948"/>
            <a:chOff x="0" y="0"/>
            <a:chExt cx="5334000" cy="1779930"/>
          </a:xfrm>
        </p:grpSpPr>
        <p:sp>
          <p:nvSpPr>
            <p:cNvPr id="9" name="Freeform 9" descr="image.png"/>
            <p:cNvSpPr/>
            <p:nvPr/>
          </p:nvSpPr>
          <p:spPr bwMode="auto">
            <a:xfrm rot="0" flipH="0" flipV="0">
              <a:off x="0" y="0"/>
              <a:ext cx="5334000" cy="1779905"/>
            </a:xfrm>
            <a:custGeom>
              <a:avLst/>
              <a:gdLst/>
              <a:ahLst/>
              <a:cxnLst/>
              <a:rect l="l" t="t" r="r" b="b"/>
              <a:pathLst>
                <a:path w="5334000" h="1779905" fill="norm" stroke="1" extrusionOk="0">
                  <a:moveTo>
                    <a:pt x="0" y="0"/>
                  </a:moveTo>
                  <a:lnTo>
                    <a:pt x="5334000" y="0"/>
                  </a:lnTo>
                  <a:lnTo>
                    <a:pt x="5334000" y="1779905"/>
                  </a:lnTo>
                  <a:lnTo>
                    <a:pt x="0" y="177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-20783" t="0" r="-20783" b="-1"/>
              </a:stretch>
            </a:blipFill>
          </p:spPr>
        </p:sp>
      </p:grpSp>
      <p:grpSp>
        <p:nvGrpSpPr>
          <p:cNvPr id="1848081754" name="Group 10"/>
          <p:cNvGrpSpPr/>
          <p:nvPr/>
        </p:nvGrpSpPr>
        <p:grpSpPr bwMode="auto">
          <a:xfrm rot="0">
            <a:off x="5029200" y="8386315"/>
            <a:ext cx="4000500" cy="1334948"/>
            <a:chOff x="0" y="0"/>
            <a:chExt cx="5334000" cy="1779930"/>
          </a:xfrm>
        </p:grpSpPr>
        <p:sp>
          <p:nvSpPr>
            <p:cNvPr id="11" name="Freeform 11" descr="image.png"/>
            <p:cNvSpPr/>
            <p:nvPr/>
          </p:nvSpPr>
          <p:spPr bwMode="auto">
            <a:xfrm rot="0" flipH="0" flipV="0">
              <a:off x="0" y="0"/>
              <a:ext cx="5334000" cy="1779905"/>
            </a:xfrm>
            <a:custGeom>
              <a:avLst/>
              <a:gdLst/>
              <a:ahLst/>
              <a:cxnLst/>
              <a:rect l="l" t="t" r="r" b="b"/>
              <a:pathLst>
                <a:path w="5334000" h="1779905" fill="norm" stroke="1" extrusionOk="0">
                  <a:moveTo>
                    <a:pt x="0" y="0"/>
                  </a:moveTo>
                  <a:lnTo>
                    <a:pt x="5334000" y="0"/>
                  </a:lnTo>
                  <a:lnTo>
                    <a:pt x="5334000" y="1779905"/>
                  </a:lnTo>
                  <a:lnTo>
                    <a:pt x="0" y="177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-20783" t="0" r="-20783" b="-1"/>
              </a:stretch>
            </a:blipFill>
          </p:spPr>
        </p:sp>
      </p:grpSp>
      <p:grpSp>
        <p:nvGrpSpPr>
          <p:cNvPr id="4350173" name="Group 12"/>
          <p:cNvGrpSpPr/>
          <p:nvPr/>
        </p:nvGrpSpPr>
        <p:grpSpPr bwMode="auto">
          <a:xfrm rot="0">
            <a:off x="9258300" y="8386315"/>
            <a:ext cx="4000500" cy="1334948"/>
            <a:chOff x="0" y="0"/>
            <a:chExt cx="5334000" cy="1779930"/>
          </a:xfrm>
        </p:grpSpPr>
        <p:sp>
          <p:nvSpPr>
            <p:cNvPr id="13" name="Freeform 13" descr="image.png"/>
            <p:cNvSpPr/>
            <p:nvPr/>
          </p:nvSpPr>
          <p:spPr bwMode="auto">
            <a:xfrm rot="0" flipH="0" flipV="0">
              <a:off x="0" y="0"/>
              <a:ext cx="5334000" cy="1779905"/>
            </a:xfrm>
            <a:custGeom>
              <a:avLst/>
              <a:gdLst/>
              <a:ahLst/>
              <a:cxnLst/>
              <a:rect l="l" t="t" r="r" b="b"/>
              <a:pathLst>
                <a:path w="5334000" h="1779905" fill="norm" stroke="1" extrusionOk="0">
                  <a:moveTo>
                    <a:pt x="0" y="0"/>
                  </a:moveTo>
                  <a:lnTo>
                    <a:pt x="5334000" y="0"/>
                  </a:lnTo>
                  <a:lnTo>
                    <a:pt x="5334000" y="1779905"/>
                  </a:lnTo>
                  <a:lnTo>
                    <a:pt x="0" y="177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-20783" t="0" r="-20783" b="-1"/>
              </a:stretch>
            </a:blipFill>
          </p:spPr>
        </p:sp>
      </p:grpSp>
      <p:grpSp>
        <p:nvGrpSpPr>
          <p:cNvPr id="481289092" name="Group 14"/>
          <p:cNvGrpSpPr/>
          <p:nvPr/>
        </p:nvGrpSpPr>
        <p:grpSpPr bwMode="auto">
          <a:xfrm rot="0">
            <a:off x="13487400" y="8386315"/>
            <a:ext cx="4406760" cy="1334948"/>
            <a:chOff x="0" y="0"/>
            <a:chExt cx="5875680" cy="1779930"/>
          </a:xfrm>
        </p:grpSpPr>
        <p:sp>
          <p:nvSpPr>
            <p:cNvPr id="15" name="Freeform 15" descr="image.png"/>
            <p:cNvSpPr/>
            <p:nvPr/>
          </p:nvSpPr>
          <p:spPr bwMode="auto">
            <a:xfrm rot="0" flipH="0" flipV="0">
              <a:off x="0" y="0"/>
              <a:ext cx="5875654" cy="1779905"/>
            </a:xfrm>
            <a:custGeom>
              <a:avLst/>
              <a:gdLst/>
              <a:ahLst/>
              <a:cxnLst/>
              <a:rect l="l" t="t" r="r" b="b"/>
              <a:pathLst>
                <a:path w="5875655" h="1779905" fill="norm" stroke="1" extrusionOk="0">
                  <a:moveTo>
                    <a:pt x="0" y="0"/>
                  </a:moveTo>
                  <a:lnTo>
                    <a:pt x="5875655" y="0"/>
                  </a:lnTo>
                  <a:lnTo>
                    <a:pt x="5875655" y="1779905"/>
                  </a:lnTo>
                  <a:lnTo>
                    <a:pt x="0" y="177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-14258" t="0" r="-14257" b="-1"/>
              </a:stretch>
            </a:blipFill>
          </p:spPr>
        </p:sp>
      </p:grpSp>
      <p:sp>
        <p:nvSpPr>
          <p:cNvPr id="579030729" name="TextBox 16"/>
          <p:cNvSpPr txBox="1"/>
          <p:nvPr/>
        </p:nvSpPr>
        <p:spPr bwMode="auto">
          <a:xfrm rot="0">
            <a:off x="800100" y="1085850"/>
            <a:ext cx="2986088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  <a:defRPr/>
            </a:pPr>
            <a:r>
              <a:rPr lang="en-US" sz="315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1698088137" name="TextBox 17"/>
          <p:cNvSpPr txBox="1"/>
          <p:nvPr/>
        </p:nvSpPr>
        <p:spPr bwMode="auto">
          <a:xfrm rot="0">
            <a:off x="1271587" y="6315666"/>
            <a:ext cx="15744825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  <a:defRPr/>
            </a:pPr>
            <a:r>
              <a:rPr lang="en-US" sz="1450" b="1">
                <a:solidFill>
                  <a:srgbClr val="C0944F"/>
                </a:solidFill>
                <a:latin typeface="Arimo Bold"/>
                <a:ea typeface="Arimo Bold"/>
                <a:cs typeface="Arimo Bold"/>
              </a:rPr>
              <a:t>PROBLEM STATEMENT TITLE</a:t>
            </a:r>
            <a:endParaRPr/>
          </a:p>
        </p:txBody>
      </p:sp>
      <p:sp>
        <p:nvSpPr>
          <p:cNvPr id="1570817434" name="TextBox 18"/>
          <p:cNvSpPr txBox="1"/>
          <p:nvPr/>
        </p:nvSpPr>
        <p:spPr bwMode="auto">
          <a:xfrm rot="0">
            <a:off x="1509493" y="6638068"/>
            <a:ext cx="7039423" cy="534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02"/>
              </a:lnSpc>
              <a:defRPr/>
            </a:pPr>
            <a:r>
              <a:rPr lang="en-US" sz="29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Urban Infrastructure Cascade Simulator</a:t>
            </a:r>
            <a:endParaRPr/>
          </a:p>
        </p:txBody>
      </p:sp>
      <p:sp>
        <p:nvSpPr>
          <p:cNvPr id="1462854668" name="TextBox 19"/>
          <p:cNvSpPr txBox="1"/>
          <p:nvPr/>
        </p:nvSpPr>
        <p:spPr bwMode="auto">
          <a:xfrm rot="0" flipH="0" flipV="0">
            <a:off x="1021555" y="2315918"/>
            <a:ext cx="8246607" cy="2226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63"/>
              </a:lnSpc>
              <a:defRPr/>
            </a:pPr>
            <a:r>
              <a:rPr lang="en-US" sz="925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</a:t>
            </a:r>
            <a:endParaRPr/>
          </a:p>
          <a:p>
            <a:pPr algn="l">
              <a:lnSpc>
                <a:spcPts val="8763"/>
              </a:lnSpc>
              <a:defRPr/>
            </a:pPr>
            <a:r>
              <a:rPr lang="en-US" sz="925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 FORGE</a:t>
            </a:r>
            <a:endParaRPr/>
          </a:p>
        </p:txBody>
      </p:sp>
      <p:sp>
        <p:nvSpPr>
          <p:cNvPr id="1997779471" name="TextBox 20"/>
          <p:cNvSpPr txBox="1"/>
          <p:nvPr/>
        </p:nvSpPr>
        <p:spPr bwMode="auto">
          <a:xfrm rot="0">
            <a:off x="1550199" y="4838700"/>
            <a:ext cx="3479006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  <a:defRPr/>
            </a:pPr>
            <a:r>
              <a:rPr lang="en-US" sz="180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HACKATHON PRESENTATION</a:t>
            </a:r>
            <a:endParaRPr/>
          </a:p>
        </p:txBody>
      </p:sp>
      <p:sp>
        <p:nvSpPr>
          <p:cNvPr id="635149881" name="TextBox 21"/>
          <p:cNvSpPr txBox="1"/>
          <p:nvPr/>
        </p:nvSpPr>
        <p:spPr bwMode="auto">
          <a:xfrm rot="0">
            <a:off x="12015788" y="2616470"/>
            <a:ext cx="5114925" cy="252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  <a:defRPr/>
            </a:pPr>
            <a:r>
              <a:rPr lang="en-US" sz="1350" b="1">
                <a:solidFill>
                  <a:srgbClr val="8A611D"/>
                </a:solidFill>
                <a:latin typeface="Arimo Bold"/>
                <a:ea typeface="Arimo Bold"/>
                <a:cs typeface="Arimo Bold"/>
              </a:rPr>
              <a:t>OFFICIAL TEMPLATE</a:t>
            </a:r>
            <a:endParaRPr/>
          </a:p>
        </p:txBody>
      </p:sp>
      <p:sp>
        <p:nvSpPr>
          <p:cNvPr id="914316218" name="TextBox 22"/>
          <p:cNvSpPr txBox="1"/>
          <p:nvPr/>
        </p:nvSpPr>
        <p:spPr bwMode="auto">
          <a:xfrm rot="0">
            <a:off x="12015788" y="2887932"/>
            <a:ext cx="5114925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  <a:defRPr/>
            </a:pPr>
            <a:r>
              <a:rPr lang="en-US" sz="22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Department of Science &amp; Technology</a:t>
            </a:r>
            <a:endParaRPr/>
          </a:p>
        </p:txBody>
      </p:sp>
      <p:sp>
        <p:nvSpPr>
          <p:cNvPr id="924259030" name="TextBox 23"/>
          <p:cNvSpPr txBox="1"/>
          <p:nvPr/>
        </p:nvSpPr>
        <p:spPr bwMode="auto">
          <a:xfrm rot="0">
            <a:off x="1321594" y="8591102"/>
            <a:ext cx="1104900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TEAM NAME</a:t>
            </a:r>
            <a:endParaRPr/>
          </a:p>
        </p:txBody>
      </p:sp>
      <p:sp>
        <p:nvSpPr>
          <p:cNvPr id="1115815032" name="TextBox 24"/>
          <p:cNvSpPr txBox="1"/>
          <p:nvPr/>
        </p:nvSpPr>
        <p:spPr bwMode="auto">
          <a:xfrm rot="0">
            <a:off x="2207419" y="8962577"/>
            <a:ext cx="1244651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9"/>
              </a:lnSpc>
              <a:defRPr/>
            </a:pPr>
            <a:r>
              <a:rPr lang="en-US" sz="20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Smasherz</a:t>
            </a:r>
            <a:endParaRPr/>
          </a:p>
        </p:txBody>
      </p:sp>
      <p:sp>
        <p:nvSpPr>
          <p:cNvPr id="2132017950" name="TextBox 25"/>
          <p:cNvSpPr txBox="1"/>
          <p:nvPr/>
        </p:nvSpPr>
        <p:spPr bwMode="auto">
          <a:xfrm rot="0">
            <a:off x="5495925" y="8576815"/>
            <a:ext cx="149021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PROBLEM CODE</a:t>
            </a:r>
            <a:endParaRPr/>
          </a:p>
        </p:txBody>
      </p:sp>
      <p:sp>
        <p:nvSpPr>
          <p:cNvPr id="1227116850" name="TextBox 26"/>
          <p:cNvSpPr txBox="1"/>
          <p:nvPr/>
        </p:nvSpPr>
        <p:spPr bwMode="auto">
          <a:xfrm rot="0">
            <a:off x="6275489" y="8996639"/>
            <a:ext cx="1507931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9"/>
              </a:lnSpc>
              <a:defRPr/>
            </a:pPr>
            <a:r>
              <a:rPr lang="en-US" sz="1850">
                <a:solidFill>
                  <a:srgbClr val="111111"/>
                </a:solidFill>
                <a:latin typeface="Arimo"/>
                <a:ea typeface="Arimo"/>
                <a:cs typeface="Arimo"/>
              </a:rPr>
              <a:t>CF-2026-S-03</a:t>
            </a:r>
            <a:endParaRPr/>
          </a:p>
        </p:txBody>
      </p:sp>
      <p:sp>
        <p:nvSpPr>
          <p:cNvPr id="1800067212" name="TextBox 27"/>
          <p:cNvSpPr txBox="1"/>
          <p:nvPr/>
        </p:nvSpPr>
        <p:spPr bwMode="auto">
          <a:xfrm rot="0">
            <a:off x="9782175" y="8576815"/>
            <a:ext cx="1500340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TEAM MEMBERS</a:t>
            </a:r>
            <a:endParaRPr/>
          </a:p>
        </p:txBody>
      </p:sp>
      <p:sp>
        <p:nvSpPr>
          <p:cNvPr id="223810579" name="TextBox 28"/>
          <p:cNvSpPr txBox="1"/>
          <p:nvPr/>
        </p:nvSpPr>
        <p:spPr bwMode="auto">
          <a:xfrm rot="0">
            <a:off x="9488338" y="8905427"/>
            <a:ext cx="3540413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9"/>
              </a:lnSpc>
              <a:defRPr/>
            </a:pPr>
            <a:r>
              <a:rPr lang="en-US" sz="1850">
                <a:solidFill>
                  <a:srgbClr val="111111"/>
                </a:solidFill>
                <a:latin typeface="Arimo"/>
                <a:ea typeface="Arimo"/>
                <a:cs typeface="Arimo"/>
              </a:rPr>
              <a:t>Tushar Tiple, Smit Patil, Atharva Trinagriwar, Yugal Kalaskar</a:t>
            </a:r>
            <a:endParaRPr/>
          </a:p>
        </p:txBody>
      </p:sp>
      <p:sp>
        <p:nvSpPr>
          <p:cNvPr id="958669468" name="TextBox 29"/>
          <p:cNvSpPr txBox="1"/>
          <p:nvPr/>
        </p:nvSpPr>
        <p:spPr bwMode="auto">
          <a:xfrm rot="0">
            <a:off x="14000482" y="8512521"/>
            <a:ext cx="1145534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3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INSTITUTION</a:t>
            </a:r>
            <a:endParaRPr/>
          </a:p>
        </p:txBody>
      </p:sp>
      <p:sp>
        <p:nvSpPr>
          <p:cNvPr id="1012885347" name="TextBox 30"/>
          <p:cNvSpPr txBox="1"/>
          <p:nvPr/>
        </p:nvSpPr>
        <p:spPr bwMode="auto">
          <a:xfrm rot="0">
            <a:off x="13716000" y="8858526"/>
            <a:ext cx="4091102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9"/>
              </a:lnSpc>
              <a:defRPr/>
            </a:pPr>
            <a:r>
              <a:rPr lang="en-US" sz="1850">
                <a:solidFill>
                  <a:srgbClr val="111111"/>
                </a:solidFill>
                <a:latin typeface="Arimo"/>
                <a:ea typeface="Arimo"/>
                <a:cs typeface="Arimo"/>
              </a:rPr>
              <a:t>St.Vincent Palloti College of Engineering and Technology, Nagpur</a:t>
            </a:r>
            <a:endParaRPr/>
          </a:p>
        </p:txBody>
      </p:sp>
      <p:sp>
        <p:nvSpPr>
          <p:cNvPr id="2022011466" name="TextBox 31"/>
          <p:cNvSpPr txBox="1"/>
          <p:nvPr/>
        </p:nvSpPr>
        <p:spPr bwMode="auto">
          <a:xfrm rot="0">
            <a:off x="13763625" y="821838"/>
            <a:ext cx="3881127" cy="2497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27"/>
              </a:lnSpc>
              <a:defRPr/>
            </a:pPr>
            <a:r>
              <a:rPr lang="en-US" sz="16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sp>
        <p:nvSpPr>
          <p:cNvPr id="1241929035" name="TextBox 32"/>
          <p:cNvSpPr txBox="1"/>
          <p:nvPr/>
        </p:nvSpPr>
        <p:spPr bwMode="auto">
          <a:xfrm rot="0">
            <a:off x="15363411" y="997527"/>
            <a:ext cx="2281341" cy="23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725"/>
              </a:lnSpc>
              <a:defRPr/>
            </a:pPr>
            <a:r>
              <a:rPr lang="en-US" sz="1450">
                <a:solidFill>
                  <a:srgbClr val="C0944F"/>
                </a:solidFill>
                <a:latin typeface="Arimo"/>
                <a:ea typeface="Arimo"/>
                <a:cs typeface="Arimo"/>
              </a:rPr>
              <a:t>NAGPUR, MAHARASHTRA</a:t>
            </a:r>
            <a:endParaRPr/>
          </a:p>
        </p:txBody>
      </p:sp>
      <p:grpSp>
        <p:nvGrpSpPr>
          <p:cNvPr id="2031673337" name="Group 33"/>
          <p:cNvGrpSpPr/>
          <p:nvPr/>
        </p:nvGrpSpPr>
        <p:grpSpPr bwMode="auto">
          <a:xfrm rot="0">
            <a:off x="1078059" y="8629202"/>
            <a:ext cx="207816" cy="152400"/>
            <a:chOff x="0" y="0"/>
            <a:chExt cx="277089" cy="203200"/>
          </a:xfrm>
        </p:grpSpPr>
        <p:sp>
          <p:nvSpPr>
            <p:cNvPr id="34" name="Freeform 34" descr="image.png"/>
            <p:cNvSpPr/>
            <p:nvPr/>
          </p:nvSpPr>
          <p:spPr bwMode="auto">
            <a:xfrm rot="0" flipH="0" flipV="0">
              <a:off x="0" y="0"/>
              <a:ext cx="277114" cy="203200"/>
            </a:xfrm>
            <a:custGeom>
              <a:avLst/>
              <a:gdLst/>
              <a:ahLst/>
              <a:cxnLst/>
              <a:rect l="l" t="t" r="r" b="b"/>
              <a:pathLst>
                <a:path w="277114" h="203200" fill="norm" stroke="1" extrusionOk="0">
                  <a:moveTo>
                    <a:pt x="0" y="0"/>
                  </a:moveTo>
                  <a:lnTo>
                    <a:pt x="277114" y="0"/>
                  </a:lnTo>
                  <a:lnTo>
                    <a:pt x="277114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-4543" r="9" b="-4549"/>
              </a:stretch>
            </a:blipFill>
          </p:spPr>
        </p:sp>
      </p:grpSp>
      <p:grpSp>
        <p:nvGrpSpPr>
          <p:cNvPr id="893028106" name="Group 35"/>
          <p:cNvGrpSpPr/>
          <p:nvPr/>
        </p:nvGrpSpPr>
        <p:grpSpPr bwMode="auto">
          <a:xfrm rot="0">
            <a:off x="5300662" y="8629202"/>
            <a:ext cx="157162" cy="157162"/>
            <a:chOff x="0" y="0"/>
            <a:chExt cx="209550" cy="209550"/>
          </a:xfrm>
        </p:grpSpPr>
        <p:sp>
          <p:nvSpPr>
            <p:cNvPr id="36" name="Freeform 36" descr="image.png"/>
            <p:cNvSpPr/>
            <p:nvPr/>
          </p:nvSpPr>
          <p:spPr bwMode="auto">
            <a:xfrm rot="0" flipH="0" flipV="0">
              <a:off x="0" y="0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 fill="norm" stroke="1" extrusionOk="0">
                  <a:moveTo>
                    <a:pt x="0" y="0"/>
                  </a:moveTo>
                  <a:lnTo>
                    <a:pt x="209550" y="0"/>
                  </a:lnTo>
                  <a:lnTo>
                    <a:pt x="209550" y="209550"/>
                  </a:lnTo>
                  <a:lnTo>
                    <a:pt x="0" y="2095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-4545" r="0" b="-4545"/>
              </a:stretch>
            </a:blipFill>
          </p:spPr>
        </p:sp>
      </p:grpSp>
      <p:grpSp>
        <p:nvGrpSpPr>
          <p:cNvPr id="1327535672" name="Group 37"/>
          <p:cNvGrpSpPr/>
          <p:nvPr/>
        </p:nvGrpSpPr>
        <p:grpSpPr bwMode="auto">
          <a:xfrm rot="0">
            <a:off x="9534525" y="8603009"/>
            <a:ext cx="214312" cy="157162"/>
            <a:chOff x="0" y="0"/>
            <a:chExt cx="285750" cy="209550"/>
          </a:xfrm>
        </p:grpSpPr>
        <p:sp>
          <p:nvSpPr>
            <p:cNvPr id="38" name="Freeform 38" descr="image.png"/>
            <p:cNvSpPr/>
            <p:nvPr/>
          </p:nvSpPr>
          <p:spPr bwMode="auto">
            <a:xfrm rot="0" flipH="0" flipV="0">
              <a:off x="0" y="0"/>
              <a:ext cx="285750" cy="209550"/>
            </a:xfrm>
            <a:custGeom>
              <a:avLst/>
              <a:gdLst/>
              <a:ahLst/>
              <a:cxnLst/>
              <a:rect l="l" t="t" r="r" b="b"/>
              <a:pathLst>
                <a:path w="285750" h="209550" fill="norm" stroke="1" extrusionOk="0">
                  <a:moveTo>
                    <a:pt x="0" y="0"/>
                  </a:moveTo>
                  <a:lnTo>
                    <a:pt x="285750" y="0"/>
                  </a:lnTo>
                  <a:lnTo>
                    <a:pt x="285750" y="209550"/>
                  </a:lnTo>
                  <a:lnTo>
                    <a:pt x="0" y="2095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0"/>
              <a:stretch>
                <a:fillRect l="0" t="-4545" r="0" b="-4545"/>
              </a:stretch>
            </a:blipFill>
          </p:spPr>
        </p:sp>
      </p:grpSp>
      <p:grpSp>
        <p:nvGrpSpPr>
          <p:cNvPr id="204830904" name="Group 39"/>
          <p:cNvGrpSpPr/>
          <p:nvPr/>
        </p:nvGrpSpPr>
        <p:grpSpPr bwMode="auto">
          <a:xfrm rot="0">
            <a:off x="13763625" y="8576815"/>
            <a:ext cx="171450" cy="157162"/>
            <a:chOff x="0" y="0"/>
            <a:chExt cx="228600" cy="209550"/>
          </a:xfrm>
        </p:grpSpPr>
        <p:sp>
          <p:nvSpPr>
            <p:cNvPr id="40" name="Freeform 40" descr="image.png"/>
            <p:cNvSpPr/>
            <p:nvPr/>
          </p:nvSpPr>
          <p:spPr bwMode="auto">
            <a:xfrm rot="0" flipH="0" flipV="0">
              <a:off x="0" y="0"/>
              <a:ext cx="228600" cy="209550"/>
            </a:xfrm>
            <a:custGeom>
              <a:avLst/>
              <a:gdLst/>
              <a:ahLst/>
              <a:cxnLst/>
              <a:rect l="l" t="t" r="r" b="b"/>
              <a:pathLst>
                <a:path w="228600" h="209550" fill="norm" stroke="1" extrusionOk="0">
                  <a:moveTo>
                    <a:pt x="0" y="0"/>
                  </a:moveTo>
                  <a:lnTo>
                    <a:pt x="228600" y="0"/>
                  </a:lnTo>
                  <a:lnTo>
                    <a:pt x="228600" y="209550"/>
                  </a:lnTo>
                  <a:lnTo>
                    <a:pt x="0" y="2095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1"/>
              <a:stretch>
                <a:fillRect l="0" t="-4545" r="0" b="-4545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46957855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915600105" name="Group 4"/>
          <p:cNvGrpSpPr/>
          <p:nvPr/>
        </p:nvGrpSpPr>
        <p:grpSpPr bwMode="auto">
          <a:xfrm rot="0">
            <a:off x="800100" y="8610600"/>
            <a:ext cx="16687800" cy="1121569"/>
            <a:chOff x="0" y="0"/>
            <a:chExt cx="22250400" cy="1495425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22250400" cy="1495425"/>
            </a:xfrm>
            <a:custGeom>
              <a:avLst/>
              <a:gdLst/>
              <a:ahLst/>
              <a:cxnLst/>
              <a:rect l="l" t="t" r="r" b="b"/>
              <a:pathLst>
                <a:path w="22250400" h="1495425" fill="norm" stroke="1" extrusionOk="0">
                  <a:moveTo>
                    <a:pt x="0" y="0"/>
                  </a:moveTo>
                  <a:lnTo>
                    <a:pt x="22250400" y="0"/>
                  </a:lnTo>
                  <a:lnTo>
                    <a:pt x="22250400" y="1495425"/>
                  </a:lnTo>
                  <a:lnTo>
                    <a:pt x="0" y="14954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318" r="0" b="-317"/>
              </a:stretch>
            </a:blipFill>
          </p:spPr>
        </p:sp>
      </p:grpSp>
      <p:grpSp>
        <p:nvGrpSpPr>
          <p:cNvPr id="1101073282" name="Group 6"/>
          <p:cNvGrpSpPr/>
          <p:nvPr/>
        </p:nvGrpSpPr>
        <p:grpSpPr bwMode="auto">
          <a:xfrm rot="0">
            <a:off x="800100" y="1824038"/>
            <a:ext cx="8201025" cy="3107531"/>
            <a:chOff x="0" y="0"/>
            <a:chExt cx="10934700" cy="4143375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10934700" cy="4143375"/>
            </a:xfrm>
            <a:custGeom>
              <a:avLst/>
              <a:gdLst/>
              <a:ahLst/>
              <a:cxnLst/>
              <a:rect l="l" t="t" r="r" b="b"/>
              <a:pathLst>
                <a:path w="10934700" h="414337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143375"/>
                  </a:lnTo>
                  <a:lnTo>
                    <a:pt x="0" y="41433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-114" r="0" b="-114"/>
              </a:stretch>
            </a:blipFill>
          </p:spPr>
        </p:sp>
      </p:grpSp>
      <p:grpSp>
        <p:nvGrpSpPr>
          <p:cNvPr id="2028457658" name="Group 8"/>
          <p:cNvGrpSpPr/>
          <p:nvPr/>
        </p:nvGrpSpPr>
        <p:grpSpPr bwMode="auto">
          <a:xfrm rot="0">
            <a:off x="9286875" y="1824038"/>
            <a:ext cx="8201025" cy="3107531"/>
            <a:chOff x="0" y="0"/>
            <a:chExt cx="10934700" cy="4143375"/>
          </a:xfrm>
        </p:grpSpPr>
        <p:sp>
          <p:nvSpPr>
            <p:cNvPr id="9" name="Freeform 9" descr="image.png"/>
            <p:cNvSpPr/>
            <p:nvPr/>
          </p:nvSpPr>
          <p:spPr bwMode="auto">
            <a:xfrm rot="0" flipH="0" flipV="0">
              <a:off x="0" y="0"/>
              <a:ext cx="10934700" cy="4143375"/>
            </a:xfrm>
            <a:custGeom>
              <a:avLst/>
              <a:gdLst/>
              <a:ahLst/>
              <a:cxnLst/>
              <a:rect l="l" t="t" r="r" b="b"/>
              <a:pathLst>
                <a:path w="10934700" h="414337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143375"/>
                  </a:lnTo>
                  <a:lnTo>
                    <a:pt x="0" y="41433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0" t="-114" r="0" b="-114"/>
              </a:stretch>
            </a:blipFill>
          </p:spPr>
        </p:sp>
      </p:grpSp>
      <p:grpSp>
        <p:nvGrpSpPr>
          <p:cNvPr id="1114080656" name="Group 10"/>
          <p:cNvGrpSpPr/>
          <p:nvPr/>
        </p:nvGrpSpPr>
        <p:grpSpPr bwMode="auto">
          <a:xfrm rot="0">
            <a:off x="800100" y="5217319"/>
            <a:ext cx="8201025" cy="3107531"/>
            <a:chOff x="0" y="0"/>
            <a:chExt cx="10934700" cy="4143375"/>
          </a:xfrm>
        </p:grpSpPr>
        <p:sp>
          <p:nvSpPr>
            <p:cNvPr id="11" name="Freeform 11" descr="image.png"/>
            <p:cNvSpPr/>
            <p:nvPr/>
          </p:nvSpPr>
          <p:spPr bwMode="auto">
            <a:xfrm rot="0" flipH="0" flipV="0">
              <a:off x="0" y="0"/>
              <a:ext cx="10934700" cy="4143375"/>
            </a:xfrm>
            <a:custGeom>
              <a:avLst/>
              <a:gdLst/>
              <a:ahLst/>
              <a:cxnLst/>
              <a:rect l="l" t="t" r="r" b="b"/>
              <a:pathLst>
                <a:path w="10934700" h="414337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143375"/>
                  </a:lnTo>
                  <a:lnTo>
                    <a:pt x="0" y="41433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-114" r="0" b="-114"/>
              </a:stretch>
            </a:blipFill>
          </p:spPr>
        </p:sp>
      </p:grpSp>
      <p:grpSp>
        <p:nvGrpSpPr>
          <p:cNvPr id="1354902074" name="Group 12"/>
          <p:cNvGrpSpPr/>
          <p:nvPr/>
        </p:nvGrpSpPr>
        <p:grpSpPr bwMode="auto">
          <a:xfrm rot="0">
            <a:off x="9286875" y="5217319"/>
            <a:ext cx="8201025" cy="3107531"/>
            <a:chOff x="0" y="0"/>
            <a:chExt cx="10934700" cy="4143375"/>
          </a:xfrm>
        </p:grpSpPr>
        <p:sp>
          <p:nvSpPr>
            <p:cNvPr id="13" name="Freeform 13" descr="image.png"/>
            <p:cNvSpPr/>
            <p:nvPr/>
          </p:nvSpPr>
          <p:spPr bwMode="auto">
            <a:xfrm rot="0" flipH="0" flipV="0">
              <a:off x="0" y="0"/>
              <a:ext cx="10934700" cy="4143375"/>
            </a:xfrm>
            <a:custGeom>
              <a:avLst/>
              <a:gdLst/>
              <a:ahLst/>
              <a:cxnLst/>
              <a:rect l="l" t="t" r="r" b="b"/>
              <a:pathLst>
                <a:path w="10934700" h="414337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143375"/>
                  </a:lnTo>
                  <a:lnTo>
                    <a:pt x="0" y="41433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-114" r="0" b="-114"/>
              </a:stretch>
            </a:blipFill>
          </p:spPr>
        </p:sp>
      </p:grpSp>
      <p:sp>
        <p:nvSpPr>
          <p:cNvPr id="1711982014" name="TextBox 14"/>
          <p:cNvSpPr txBox="1"/>
          <p:nvPr/>
        </p:nvSpPr>
        <p:spPr bwMode="auto">
          <a:xfrm rot="0">
            <a:off x="800100" y="776287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2129072191" name="TextBox 15"/>
          <p:cNvSpPr txBox="1"/>
          <p:nvPr/>
        </p:nvSpPr>
        <p:spPr bwMode="auto">
          <a:xfrm rot="0">
            <a:off x="14216062" y="735959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sp>
        <p:nvSpPr>
          <p:cNvPr id="1824360214" name="TextBox 16"/>
          <p:cNvSpPr txBox="1"/>
          <p:nvPr/>
        </p:nvSpPr>
        <p:spPr bwMode="auto">
          <a:xfrm rot="0">
            <a:off x="1338262" y="8877300"/>
            <a:ext cx="4344850" cy="271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9"/>
              </a:lnSpc>
              <a:defRPr/>
            </a:pPr>
            <a:r>
              <a:rPr lang="en-US" sz="1950" b="1">
                <a:solidFill>
                  <a:srgbClr val="C0944F"/>
                </a:solidFill>
                <a:latin typeface="Arimo Bold"/>
                <a:ea typeface="Arimo Bold"/>
                <a:cs typeface="Arimo Bold"/>
              </a:rPr>
              <a:t>ONE CLEAR PROBLEM STATEMENT</a:t>
            </a:r>
            <a:endParaRPr/>
          </a:p>
        </p:txBody>
      </p:sp>
      <p:sp>
        <p:nvSpPr>
          <p:cNvPr id="1928642780" name="TextBox 17"/>
          <p:cNvSpPr txBox="1"/>
          <p:nvPr/>
        </p:nvSpPr>
        <p:spPr bwMode="auto">
          <a:xfrm rot="0">
            <a:off x="1214438" y="9086850"/>
            <a:ext cx="15930562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6"/>
              </a:lnSpc>
              <a:defRPr/>
            </a:pPr>
            <a:r>
              <a:rPr lang="en-US" sz="2300">
                <a:solidFill>
                  <a:srgbClr val="F7F4EE"/>
                </a:solidFill>
                <a:latin typeface="Calibri (MS)"/>
                <a:ea typeface="Calibri (MS)"/>
                <a:cs typeface="Calibri (MS)"/>
              </a:rPr>
              <a:t>"How to accurately model and simulate cascading failures across interdependent urban infrastructure networks to predict and mitigate systemic collapses."</a:t>
            </a:r>
            <a:endParaRPr/>
          </a:p>
        </p:txBody>
      </p:sp>
      <p:grpSp>
        <p:nvGrpSpPr>
          <p:cNvPr id="2066495755" name="Group 18"/>
          <p:cNvGrpSpPr/>
          <p:nvPr/>
        </p:nvGrpSpPr>
        <p:grpSpPr bwMode="auto">
          <a:xfrm rot="0">
            <a:off x="1128712" y="2152650"/>
            <a:ext cx="685800" cy="685800"/>
            <a:chOff x="0" y="0"/>
            <a:chExt cx="914400" cy="914400"/>
          </a:xfrm>
        </p:grpSpPr>
        <p:sp>
          <p:nvSpPr>
            <p:cNvPr id="19" name="Freeform 19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0" r="0" b="0"/>
              </a:stretch>
            </a:blipFill>
          </p:spPr>
        </p:sp>
      </p:grpSp>
      <p:sp>
        <p:nvSpPr>
          <p:cNvPr id="700982577" name="TextBox 20"/>
          <p:cNvSpPr txBox="1"/>
          <p:nvPr/>
        </p:nvSpPr>
        <p:spPr bwMode="auto">
          <a:xfrm rot="0">
            <a:off x="1128712" y="2981325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In Our Own Words</a:t>
            </a:r>
            <a:endParaRPr/>
          </a:p>
        </p:txBody>
      </p:sp>
      <p:sp>
        <p:nvSpPr>
          <p:cNvPr id="1925415869" name="TextBox 21"/>
          <p:cNvSpPr txBox="1"/>
          <p:nvPr/>
        </p:nvSpPr>
        <p:spPr bwMode="auto">
          <a:xfrm rot="0">
            <a:off x="1128712" y="3324225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Urban networks (power, water, healthcare) are highly interdependent, yet current models fail to track cascading failures across different domains efficiently.</a:t>
            </a:r>
            <a:endParaRPr/>
          </a:p>
        </p:txBody>
      </p:sp>
      <p:grpSp>
        <p:nvGrpSpPr>
          <p:cNvPr id="1607063279" name="Group 22"/>
          <p:cNvGrpSpPr/>
          <p:nvPr/>
        </p:nvGrpSpPr>
        <p:grpSpPr bwMode="auto">
          <a:xfrm rot="0">
            <a:off x="9615488" y="2152650"/>
            <a:ext cx="685800" cy="685800"/>
            <a:chOff x="0" y="0"/>
            <a:chExt cx="914400" cy="914400"/>
          </a:xfrm>
        </p:grpSpPr>
        <p:sp>
          <p:nvSpPr>
            <p:cNvPr id="23" name="Freeform 23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0"/>
              <a:stretch>
                <a:fillRect l="0" t="0" r="0" b="0"/>
              </a:stretch>
            </a:blipFill>
          </p:spPr>
        </p:sp>
      </p:grpSp>
      <p:sp>
        <p:nvSpPr>
          <p:cNvPr id="95088415" name="TextBox 24"/>
          <p:cNvSpPr txBox="1"/>
          <p:nvPr/>
        </p:nvSpPr>
        <p:spPr bwMode="auto">
          <a:xfrm rot="0">
            <a:off x="9615488" y="2981325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Real-World Context</a:t>
            </a:r>
            <a:endParaRPr/>
          </a:p>
        </p:txBody>
      </p:sp>
      <p:sp>
        <p:nvSpPr>
          <p:cNvPr id="828119684" name="TextBox 25"/>
          <p:cNvSpPr txBox="1"/>
          <p:nvPr/>
        </p:nvSpPr>
        <p:spPr bwMode="auto">
          <a:xfrm rot="0">
            <a:off x="9615488" y="3324225"/>
            <a:ext cx="7543800" cy="862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Modern smart cities rely on interconnected services where a single substation failure can trigger water shortages and hospital outages.</a:t>
            </a:r>
            <a:endParaRPr/>
          </a:p>
        </p:txBody>
      </p:sp>
      <p:grpSp>
        <p:nvGrpSpPr>
          <p:cNvPr id="1992894601" name="Group 26"/>
          <p:cNvGrpSpPr/>
          <p:nvPr/>
        </p:nvGrpSpPr>
        <p:grpSpPr bwMode="auto">
          <a:xfrm rot="0">
            <a:off x="1128712" y="5545931"/>
            <a:ext cx="685800" cy="685800"/>
            <a:chOff x="0" y="0"/>
            <a:chExt cx="914400" cy="914400"/>
          </a:xfrm>
        </p:grpSpPr>
        <p:sp>
          <p:nvSpPr>
            <p:cNvPr id="27" name="Freeform 27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1"/>
              <a:stretch>
                <a:fillRect l="0" t="-1041" r="0" b="-1040"/>
              </a:stretch>
            </a:blipFill>
          </p:spPr>
        </p:sp>
      </p:grpSp>
      <p:sp>
        <p:nvSpPr>
          <p:cNvPr id="546104671" name="TextBox 28"/>
          <p:cNvSpPr txBox="1"/>
          <p:nvPr/>
        </p:nvSpPr>
        <p:spPr bwMode="auto">
          <a:xfrm rot="0">
            <a:off x="1128712" y="6374606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Who Is Affected?</a:t>
            </a:r>
            <a:endParaRPr/>
          </a:p>
        </p:txBody>
      </p:sp>
      <p:sp>
        <p:nvSpPr>
          <p:cNvPr id="782915559" name="TextBox 29"/>
          <p:cNvSpPr txBox="1"/>
          <p:nvPr/>
        </p:nvSpPr>
        <p:spPr bwMode="auto">
          <a:xfrm rot="0">
            <a:off x="1128712" y="6717506"/>
            <a:ext cx="7543800" cy="862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City planners, emergency responders, and utility managers who need to predict cascading impacts of natural disasters or targeted attacks.</a:t>
            </a:r>
            <a:endParaRPr/>
          </a:p>
        </p:txBody>
      </p:sp>
      <p:grpSp>
        <p:nvGrpSpPr>
          <p:cNvPr id="1425588593" name="Group 30"/>
          <p:cNvGrpSpPr/>
          <p:nvPr/>
        </p:nvGrpSpPr>
        <p:grpSpPr bwMode="auto">
          <a:xfrm rot="0">
            <a:off x="9615488" y="5545931"/>
            <a:ext cx="685800" cy="685800"/>
            <a:chOff x="0" y="0"/>
            <a:chExt cx="914400" cy="914400"/>
          </a:xfrm>
        </p:grpSpPr>
        <p:sp>
          <p:nvSpPr>
            <p:cNvPr id="31" name="Freeform 31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1"/>
              <a:stretch>
                <a:fillRect l="0" t="-1041" r="0" b="-1040"/>
              </a:stretch>
            </a:blipFill>
          </p:spPr>
        </p:sp>
      </p:grpSp>
      <p:sp>
        <p:nvSpPr>
          <p:cNvPr id="121518860" name="TextBox 32"/>
          <p:cNvSpPr txBox="1"/>
          <p:nvPr/>
        </p:nvSpPr>
        <p:spPr bwMode="auto">
          <a:xfrm rot="0">
            <a:off x="9615488" y="6374606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Existing Limitations</a:t>
            </a:r>
            <a:endParaRPr/>
          </a:p>
        </p:txBody>
      </p:sp>
      <p:sp>
        <p:nvSpPr>
          <p:cNvPr id="2080532773" name="TextBox 33"/>
          <p:cNvSpPr txBox="1"/>
          <p:nvPr/>
        </p:nvSpPr>
        <p:spPr bwMode="auto">
          <a:xfrm rot="0">
            <a:off x="9615488" y="6717506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Existing simulations are tightly coupled, monolithic, and lack discrete-time tracking, making it hard to identify the exact cascade path and recovery times.</a:t>
            </a:r>
            <a:endParaRPr/>
          </a:p>
        </p:txBody>
      </p:sp>
      <p:grpSp>
        <p:nvGrpSpPr>
          <p:cNvPr id="675131673" name="Group 34"/>
          <p:cNvGrpSpPr/>
          <p:nvPr/>
        </p:nvGrpSpPr>
        <p:grpSpPr bwMode="auto">
          <a:xfrm rot="0">
            <a:off x="1214438" y="8896350"/>
            <a:ext cx="185738" cy="171450"/>
            <a:chOff x="0" y="0"/>
            <a:chExt cx="247650" cy="228600"/>
          </a:xfrm>
        </p:grpSpPr>
        <p:sp>
          <p:nvSpPr>
            <p:cNvPr id="35" name="Freeform 35" descr="image.png"/>
            <p:cNvSpPr/>
            <p:nvPr/>
          </p:nvSpPr>
          <p:spPr bwMode="auto">
            <a:xfrm rot="0" flipH="0" flipV="0">
              <a:off x="0" y="0"/>
              <a:ext cx="247650" cy="228600"/>
            </a:xfrm>
            <a:custGeom>
              <a:avLst/>
              <a:gdLst/>
              <a:ahLst/>
              <a:cxnLst/>
              <a:rect l="l" t="t" r="r" b="b"/>
              <a:pathLst>
                <a:path w="247650" h="228600" fill="norm" stroke="1" extrusionOk="0">
                  <a:moveTo>
                    <a:pt x="0" y="0"/>
                  </a:moveTo>
                  <a:lnTo>
                    <a:pt x="247650" y="0"/>
                  </a:lnTo>
                  <a:lnTo>
                    <a:pt x="247650" y="228600"/>
                  </a:lnTo>
                  <a:lnTo>
                    <a:pt x="0" y="2286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id="537125920" name="Group 36"/>
          <p:cNvGrpSpPr/>
          <p:nvPr/>
        </p:nvGrpSpPr>
        <p:grpSpPr bwMode="auto">
          <a:xfrm rot="0">
            <a:off x="1285875" y="2309812"/>
            <a:ext cx="371475" cy="371475"/>
            <a:chOff x="0" y="0"/>
            <a:chExt cx="495300" cy="495300"/>
          </a:xfrm>
        </p:grpSpPr>
        <p:sp>
          <p:nvSpPr>
            <p:cNvPr id="37" name="Freeform 37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id="209129294" name="Group 38"/>
          <p:cNvGrpSpPr/>
          <p:nvPr/>
        </p:nvGrpSpPr>
        <p:grpSpPr bwMode="auto">
          <a:xfrm rot="0">
            <a:off x="9772650" y="2309812"/>
            <a:ext cx="371475" cy="371475"/>
            <a:chOff x="0" y="0"/>
            <a:chExt cx="495300" cy="495300"/>
          </a:xfrm>
        </p:grpSpPr>
        <p:sp>
          <p:nvSpPr>
            <p:cNvPr id="39" name="Freeform 39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id="606365884" name="Group 40"/>
          <p:cNvGrpSpPr/>
          <p:nvPr/>
        </p:nvGrpSpPr>
        <p:grpSpPr bwMode="auto">
          <a:xfrm rot="0">
            <a:off x="1235869" y="5703094"/>
            <a:ext cx="471488" cy="371475"/>
            <a:chOff x="0" y="0"/>
            <a:chExt cx="628650" cy="495300"/>
          </a:xfrm>
        </p:grpSpPr>
        <p:sp>
          <p:nvSpPr>
            <p:cNvPr id="41" name="Freeform 41" descr="image.png"/>
            <p:cNvSpPr/>
            <p:nvPr/>
          </p:nvSpPr>
          <p:spPr bwMode="auto">
            <a:xfrm rot="0" flipH="0" flipV="0">
              <a:off x="0" y="0"/>
              <a:ext cx="628650" cy="495300"/>
            </a:xfrm>
            <a:custGeom>
              <a:avLst/>
              <a:gdLst/>
              <a:ahLst/>
              <a:cxnLst/>
              <a:rect l="l" t="t" r="r" b="b"/>
              <a:pathLst>
                <a:path w="628650" h="495300" fill="norm" stroke="1" extrusionOk="0">
                  <a:moveTo>
                    <a:pt x="0" y="0"/>
                  </a:moveTo>
                  <a:lnTo>
                    <a:pt x="628650" y="0"/>
                  </a:lnTo>
                  <a:lnTo>
                    <a:pt x="62865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/>
              <a:stretch>
                <a:fillRect l="0" t="-394" r="0" b="-397"/>
              </a:stretch>
            </a:blipFill>
          </p:spPr>
        </p:sp>
      </p:grpSp>
      <p:grpSp>
        <p:nvGrpSpPr>
          <p:cNvPr id="1900314811" name="Group 42"/>
          <p:cNvGrpSpPr/>
          <p:nvPr/>
        </p:nvGrpSpPr>
        <p:grpSpPr bwMode="auto">
          <a:xfrm rot="0">
            <a:off x="9772650" y="5703094"/>
            <a:ext cx="371475" cy="371475"/>
            <a:chOff x="0" y="0"/>
            <a:chExt cx="495300" cy="495300"/>
          </a:xfrm>
        </p:grpSpPr>
        <p:sp>
          <p:nvSpPr>
            <p:cNvPr id="43" name="Freeform 43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6"/>
              <a:stretch>
                <a:fillRect l="0" t="-1923" r="0" b="-1923"/>
              </a:stretch>
            </a:blipFill>
          </p:spPr>
        </p:sp>
      </p:grpSp>
      <p:sp>
        <p:nvSpPr>
          <p:cNvPr id="768613479" name="TextBox 44"/>
          <p:cNvSpPr txBox="1"/>
          <p:nvPr/>
        </p:nvSpPr>
        <p:spPr bwMode="auto">
          <a:xfrm rot="0">
            <a:off x="1214438" y="1243012"/>
            <a:ext cx="3095473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8"/>
              </a:lnSpc>
              <a:defRPr/>
            </a:pPr>
            <a:r>
              <a:rPr lang="en-US" sz="40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The Problem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5914950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380627325" name="Group 4"/>
          <p:cNvGrpSpPr/>
          <p:nvPr/>
        </p:nvGrpSpPr>
        <p:grpSpPr bwMode="auto">
          <a:xfrm rot="0">
            <a:off x="800100" y="2750344"/>
            <a:ext cx="8201025" cy="3150394"/>
            <a:chOff x="0" y="0"/>
            <a:chExt cx="10934700" cy="4200525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10934700" cy="4200525"/>
            </a:xfrm>
            <a:custGeom>
              <a:avLst/>
              <a:gdLst/>
              <a:ahLst/>
              <a:cxnLst/>
              <a:rect l="l" t="t" r="r" b="b"/>
              <a:pathLst>
                <a:path w="10934700" h="420052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200525"/>
                  </a:lnTo>
                  <a:lnTo>
                    <a:pt x="0" y="42005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113" r="0" b="-112"/>
              </a:stretch>
            </a:blipFill>
          </p:spPr>
        </p:sp>
      </p:grpSp>
      <p:grpSp>
        <p:nvGrpSpPr>
          <p:cNvPr id="17229068" name="Group 6"/>
          <p:cNvGrpSpPr/>
          <p:nvPr/>
        </p:nvGrpSpPr>
        <p:grpSpPr bwMode="auto">
          <a:xfrm rot="0">
            <a:off x="9286875" y="2750344"/>
            <a:ext cx="8201025" cy="3150394"/>
            <a:chOff x="0" y="0"/>
            <a:chExt cx="10934700" cy="4200525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10934700" cy="4200525"/>
            </a:xfrm>
            <a:custGeom>
              <a:avLst/>
              <a:gdLst/>
              <a:ahLst/>
              <a:cxnLst/>
              <a:rect l="l" t="t" r="r" b="b"/>
              <a:pathLst>
                <a:path w="10934700" h="420052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200525"/>
                  </a:lnTo>
                  <a:lnTo>
                    <a:pt x="0" y="42005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-113" r="0" b="-112"/>
              </a:stretch>
            </a:blipFill>
          </p:spPr>
        </p:sp>
      </p:grpSp>
      <p:grpSp>
        <p:nvGrpSpPr>
          <p:cNvPr id="842198957" name="Group 8"/>
          <p:cNvGrpSpPr/>
          <p:nvPr/>
        </p:nvGrpSpPr>
        <p:grpSpPr bwMode="auto">
          <a:xfrm rot="0">
            <a:off x="800100" y="6186488"/>
            <a:ext cx="8201025" cy="3150394"/>
            <a:chOff x="0" y="0"/>
            <a:chExt cx="10934700" cy="4200525"/>
          </a:xfrm>
        </p:grpSpPr>
        <p:sp>
          <p:nvSpPr>
            <p:cNvPr id="9" name="Freeform 9" descr="image.png"/>
            <p:cNvSpPr/>
            <p:nvPr/>
          </p:nvSpPr>
          <p:spPr bwMode="auto">
            <a:xfrm rot="0" flipH="0" flipV="0">
              <a:off x="0" y="0"/>
              <a:ext cx="10934700" cy="4200525"/>
            </a:xfrm>
            <a:custGeom>
              <a:avLst/>
              <a:gdLst/>
              <a:ahLst/>
              <a:cxnLst/>
              <a:rect l="l" t="t" r="r" b="b"/>
              <a:pathLst>
                <a:path w="10934700" h="420052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200525"/>
                  </a:lnTo>
                  <a:lnTo>
                    <a:pt x="0" y="42005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0" t="-113" r="0" b="-112"/>
              </a:stretch>
            </a:blipFill>
          </p:spPr>
        </p:sp>
      </p:grpSp>
      <p:grpSp>
        <p:nvGrpSpPr>
          <p:cNvPr id="184625160" name="Group 10"/>
          <p:cNvGrpSpPr/>
          <p:nvPr/>
        </p:nvGrpSpPr>
        <p:grpSpPr bwMode="auto">
          <a:xfrm rot="0">
            <a:off x="9286875" y="6186488"/>
            <a:ext cx="8201025" cy="3150394"/>
            <a:chOff x="0" y="0"/>
            <a:chExt cx="10934700" cy="4200525"/>
          </a:xfrm>
        </p:grpSpPr>
        <p:sp>
          <p:nvSpPr>
            <p:cNvPr id="11" name="Freeform 11" descr="image.png"/>
            <p:cNvSpPr/>
            <p:nvPr/>
          </p:nvSpPr>
          <p:spPr bwMode="auto">
            <a:xfrm rot="0" flipH="0" flipV="0">
              <a:off x="0" y="0"/>
              <a:ext cx="10934700" cy="4200525"/>
            </a:xfrm>
            <a:custGeom>
              <a:avLst/>
              <a:gdLst/>
              <a:ahLst/>
              <a:cxnLst/>
              <a:rect l="l" t="t" r="r" b="b"/>
              <a:pathLst>
                <a:path w="10934700" h="4200525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200525"/>
                  </a:lnTo>
                  <a:lnTo>
                    <a:pt x="0" y="42005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-113" r="0" b="-112"/>
              </a:stretch>
            </a:blipFill>
          </p:spPr>
        </p:sp>
      </p:grpSp>
      <p:sp>
        <p:nvSpPr>
          <p:cNvPr id="404401754" name="TextBox 12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2098323285" name="TextBox 13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grpSp>
        <p:nvGrpSpPr>
          <p:cNvPr id="1296139871" name="Group 14"/>
          <p:cNvGrpSpPr/>
          <p:nvPr/>
        </p:nvGrpSpPr>
        <p:grpSpPr bwMode="auto">
          <a:xfrm rot="0">
            <a:off x="1128712" y="3121819"/>
            <a:ext cx="685800" cy="685800"/>
            <a:chOff x="0" y="0"/>
            <a:chExt cx="914400" cy="914400"/>
          </a:xfrm>
        </p:grpSpPr>
        <p:sp>
          <p:nvSpPr>
            <p:cNvPr id="15" name="Freeform 15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0" b="0"/>
              </a:stretch>
            </a:blipFill>
          </p:spPr>
        </p:sp>
      </p:grpSp>
      <p:sp>
        <p:nvSpPr>
          <p:cNvPr id="1810298526" name="TextBox 16"/>
          <p:cNvSpPr txBox="1"/>
          <p:nvPr/>
        </p:nvSpPr>
        <p:spPr bwMode="auto">
          <a:xfrm rot="0">
            <a:off x="1128712" y="3950494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Core Technical Problem</a:t>
            </a:r>
            <a:endParaRPr/>
          </a:p>
        </p:txBody>
      </p:sp>
      <p:sp>
        <p:nvSpPr>
          <p:cNvPr id="522562614" name="TextBox 17"/>
          <p:cNvSpPr txBox="1"/>
          <p:nvPr/>
        </p:nvSpPr>
        <p:spPr bwMode="auto">
          <a:xfrm rot="0">
            <a:off x="1128712" y="4293394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Developing a purely functional, discrete-time propagation engine (Lane 2) that deterministically evaluates failure cascades based on weighted dependency edges.</a:t>
            </a:r>
            <a:endParaRPr/>
          </a:p>
        </p:txBody>
      </p:sp>
      <p:grpSp>
        <p:nvGrpSpPr>
          <p:cNvPr id="1573228376" name="Group 18"/>
          <p:cNvGrpSpPr/>
          <p:nvPr/>
        </p:nvGrpSpPr>
        <p:grpSpPr bwMode="auto">
          <a:xfrm rot="0">
            <a:off x="9615488" y="3121819"/>
            <a:ext cx="685800" cy="685800"/>
            <a:chOff x="0" y="0"/>
            <a:chExt cx="914400" cy="914400"/>
          </a:xfrm>
        </p:grpSpPr>
        <p:sp>
          <p:nvSpPr>
            <p:cNvPr id="19" name="Freeform 19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-1041" r="0" b="-1040"/>
              </a:stretch>
            </a:blipFill>
          </p:spPr>
        </p:sp>
      </p:grpSp>
      <p:sp>
        <p:nvSpPr>
          <p:cNvPr id="1241698312" name="TextBox 20"/>
          <p:cNvSpPr txBox="1"/>
          <p:nvPr/>
        </p:nvSpPr>
        <p:spPr bwMode="auto">
          <a:xfrm rot="0">
            <a:off x="9615488" y="3950494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Key Assumptions</a:t>
            </a:r>
            <a:endParaRPr/>
          </a:p>
        </p:txBody>
      </p:sp>
      <p:sp>
        <p:nvSpPr>
          <p:cNvPr id="245415827" name="TextBox 21"/>
          <p:cNvSpPr txBox="1"/>
          <p:nvPr/>
        </p:nvSpPr>
        <p:spPr bwMode="auto">
          <a:xfrm rot="0">
            <a:off x="9615488" y="4293394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Infrastructure nodes have capacity and failure thresholds. Edges represent dependency weights. State is evaluated strictly at discrete ticks.</a:t>
            </a:r>
            <a:endParaRPr/>
          </a:p>
        </p:txBody>
      </p:sp>
      <p:grpSp>
        <p:nvGrpSpPr>
          <p:cNvPr id="164052724" name="Group 22"/>
          <p:cNvGrpSpPr/>
          <p:nvPr/>
        </p:nvGrpSpPr>
        <p:grpSpPr bwMode="auto">
          <a:xfrm rot="0">
            <a:off x="1128712" y="6557962"/>
            <a:ext cx="685800" cy="685800"/>
            <a:chOff x="0" y="0"/>
            <a:chExt cx="914400" cy="914400"/>
          </a:xfrm>
        </p:grpSpPr>
        <p:sp>
          <p:nvSpPr>
            <p:cNvPr id="23" name="Freeform 23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0"/>
              <a:stretch>
                <a:fillRect l="0" t="0" r="0" b="0"/>
              </a:stretch>
            </a:blipFill>
          </p:spPr>
        </p:sp>
      </p:grpSp>
      <p:sp>
        <p:nvSpPr>
          <p:cNvPr id="918739725" name="TextBox 24"/>
          <p:cNvSpPr txBox="1"/>
          <p:nvPr/>
        </p:nvSpPr>
        <p:spPr bwMode="auto">
          <a:xfrm rot="0">
            <a:off x="1128712" y="7386637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Known Constraints</a:t>
            </a:r>
            <a:endParaRPr/>
          </a:p>
        </p:txBody>
      </p:sp>
      <p:sp>
        <p:nvSpPr>
          <p:cNvPr id="1938622741" name="TextBox 25"/>
          <p:cNvSpPr txBox="1"/>
          <p:nvPr/>
        </p:nvSpPr>
        <p:spPr bwMode="auto">
          <a:xfrm rot="0">
            <a:off x="1128712" y="7729537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The simulation must run in a separated 4-lane architecture (DB, Engine, Visuals, Metrics) with strict cross-lane data contracts (immutable snapshots).</a:t>
            </a:r>
            <a:endParaRPr/>
          </a:p>
        </p:txBody>
      </p:sp>
      <p:grpSp>
        <p:nvGrpSpPr>
          <p:cNvPr id="330127543" name="Group 26"/>
          <p:cNvGrpSpPr/>
          <p:nvPr/>
        </p:nvGrpSpPr>
        <p:grpSpPr bwMode="auto">
          <a:xfrm rot="0">
            <a:off x="9615488" y="6557962"/>
            <a:ext cx="685800" cy="685800"/>
            <a:chOff x="0" y="0"/>
            <a:chExt cx="914400" cy="914400"/>
          </a:xfrm>
        </p:grpSpPr>
        <p:sp>
          <p:nvSpPr>
            <p:cNvPr id="27" name="Freeform 27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1"/>
              <a:stretch>
                <a:fillRect l="0" t="-1041" r="0" b="-1040"/>
              </a:stretch>
            </a:blipFill>
          </p:spPr>
        </p:sp>
      </p:grpSp>
      <p:sp>
        <p:nvSpPr>
          <p:cNvPr id="90339306" name="TextBox 28"/>
          <p:cNvSpPr txBox="1"/>
          <p:nvPr/>
        </p:nvSpPr>
        <p:spPr bwMode="auto">
          <a:xfrm rot="0">
            <a:off x="9615488" y="7386637"/>
            <a:ext cx="7920990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9"/>
              </a:lnSpc>
              <a:defRPr/>
            </a:pPr>
            <a:r>
              <a:rPr lang="en-US" sz="25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Edge Cases &amp; Complexity</a:t>
            </a:r>
            <a:endParaRPr/>
          </a:p>
        </p:txBody>
      </p:sp>
      <p:sp>
        <p:nvSpPr>
          <p:cNvPr id="813244736" name="TextBox 29"/>
          <p:cNvSpPr txBox="1"/>
          <p:nvPr/>
        </p:nvSpPr>
        <p:spPr bwMode="auto">
          <a:xfrm rot="0">
            <a:off x="9615488" y="7729537"/>
            <a:ext cx="7543800" cy="12818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1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Handling simultaneous disruptions, cyclical dependencies, and interleaving recovery actions before failure propagation within a single tick.</a:t>
            </a:r>
            <a:endParaRPr/>
          </a:p>
        </p:txBody>
      </p:sp>
      <p:grpSp>
        <p:nvGrpSpPr>
          <p:cNvPr id="799323932" name="Group 30"/>
          <p:cNvGrpSpPr/>
          <p:nvPr/>
        </p:nvGrpSpPr>
        <p:grpSpPr bwMode="auto">
          <a:xfrm rot="0">
            <a:off x="1285875" y="3278981"/>
            <a:ext cx="371475" cy="371475"/>
            <a:chOff x="0" y="0"/>
            <a:chExt cx="495300" cy="495300"/>
          </a:xfrm>
        </p:grpSpPr>
        <p:sp>
          <p:nvSpPr>
            <p:cNvPr id="31" name="Freeform 31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id="812023275" name="Group 32"/>
          <p:cNvGrpSpPr/>
          <p:nvPr/>
        </p:nvGrpSpPr>
        <p:grpSpPr bwMode="auto">
          <a:xfrm rot="0">
            <a:off x="9772650" y="3278981"/>
            <a:ext cx="371475" cy="371475"/>
            <a:chOff x="0" y="0"/>
            <a:chExt cx="495300" cy="495300"/>
          </a:xfrm>
        </p:grpSpPr>
        <p:sp>
          <p:nvSpPr>
            <p:cNvPr id="33" name="Freeform 33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3"/>
              <a:stretch>
                <a:fillRect l="0" t="-1923" r="0" b="-1923"/>
              </a:stretch>
            </a:blipFill>
          </p:spPr>
        </p:sp>
      </p:grpSp>
      <p:grpSp>
        <p:nvGrpSpPr>
          <p:cNvPr id="1424734488" name="Group 34"/>
          <p:cNvGrpSpPr/>
          <p:nvPr/>
        </p:nvGrpSpPr>
        <p:grpSpPr bwMode="auto">
          <a:xfrm rot="0">
            <a:off x="1285875" y="6715125"/>
            <a:ext cx="371475" cy="371475"/>
            <a:chOff x="0" y="0"/>
            <a:chExt cx="495300" cy="495300"/>
          </a:xfrm>
        </p:grpSpPr>
        <p:sp>
          <p:nvSpPr>
            <p:cNvPr id="35" name="Freeform 35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id="318339784" name="Group 36"/>
          <p:cNvGrpSpPr/>
          <p:nvPr/>
        </p:nvGrpSpPr>
        <p:grpSpPr bwMode="auto">
          <a:xfrm rot="0">
            <a:off x="9772650" y="6715125"/>
            <a:ext cx="371475" cy="371475"/>
            <a:chOff x="0" y="0"/>
            <a:chExt cx="495300" cy="495300"/>
          </a:xfrm>
        </p:grpSpPr>
        <p:sp>
          <p:nvSpPr>
            <p:cNvPr id="37" name="Freeform 37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/>
              <a:stretch>
                <a:fillRect l="0" t="-1923" r="0" b="-1923"/>
              </a:stretch>
            </a:blipFill>
          </p:spPr>
        </p:sp>
      </p:grpSp>
      <p:sp>
        <p:nvSpPr>
          <p:cNvPr id="403276365" name="TextBox 38"/>
          <p:cNvSpPr txBox="1"/>
          <p:nvPr/>
        </p:nvSpPr>
        <p:spPr bwMode="auto">
          <a:xfrm rot="0">
            <a:off x="800100" y="1490662"/>
            <a:ext cx="17487900" cy="652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  <a:defRPr/>
            </a:pPr>
            <a:r>
              <a:rPr lang="en-US" sz="38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Problem Decomposition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35190516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965695289" name="Group 4"/>
          <p:cNvGrpSpPr/>
          <p:nvPr/>
        </p:nvGrpSpPr>
        <p:grpSpPr bwMode="auto">
          <a:xfrm rot="0">
            <a:off x="800100" y="3529012"/>
            <a:ext cx="16687800" cy="5029200"/>
            <a:chOff x="0" y="0"/>
            <a:chExt cx="22250400" cy="6705600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22250400" cy="6705600"/>
            </a:xfrm>
            <a:custGeom>
              <a:avLst/>
              <a:gdLst/>
              <a:ahLst/>
              <a:cxnLst/>
              <a:rect l="l" t="t" r="r" b="b"/>
              <a:pathLst>
                <a:path w="22250400" h="6705600" fill="norm" stroke="1" extrusionOk="0">
                  <a:moveTo>
                    <a:pt x="0" y="0"/>
                  </a:moveTo>
                  <a:lnTo>
                    <a:pt x="22250400" y="0"/>
                  </a:lnTo>
                  <a:lnTo>
                    <a:pt x="22250400" y="6705600"/>
                  </a:lnTo>
                  <a:lnTo>
                    <a:pt x="0" y="67056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0" r="0" b="0"/>
              </a:stretch>
            </a:blipFill>
          </p:spPr>
        </p:sp>
      </p:grpSp>
      <p:sp>
        <p:nvSpPr>
          <p:cNvPr id="1763919073" name="TextBox 6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844458668" name="TextBox 7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graphicFrame>
        <p:nvGraphicFramePr>
          <p:cNvPr id="678445379" name="Table 8"/>
          <p:cNvGraphicFramePr>
            <a:graphicFrameLocks xmlns:a="http://schemas.openxmlformats.org/drawingml/2006/main" noGrp="1"/>
          </p:cNvGraphicFramePr>
          <p:nvPr/>
        </p:nvGraphicFramePr>
        <p:xfrm rot="0">
          <a:off x="838200" y="3543300"/>
          <a:ext cx="16611600" cy="4953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57748"/>
                <a:gridCol w="3489293"/>
                <a:gridCol w="4288103"/>
                <a:gridCol w="4418764"/>
                <a:gridCol w="2157693"/>
              </a:tblGrid>
              <a:tr h="990600">
                <a:tc>
                  <a:txBody>
                    <a:bodyPr/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Approach / System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Core Methodology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Key Strengths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Where It Fails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Our Identified </a:t>
                      </a:r>
                      <a:endParaRPr lang="en-US" sz="1100"/>
                    </a:p>
                    <a:p>
                      <a:pPr algn="ctr">
                        <a:lnSpc>
                          <a:spcPts val="2113"/>
                        </a:lnSpc>
                        <a:defRPr/>
                      </a:pPr>
                      <a:r>
                        <a:rPr lang="en-US" sz="175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Gap</a:t>
                      </a:r>
                      <a:endParaRPr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</a:tr>
              <a:tr h="990600">
                <a:tc>
                  <a:txBody>
                    <a:bodyPr/>
                    <a:p>
                      <a:pPr algn="ctr">
                        <a:lnSpc>
                          <a:spcPts val="2249"/>
                        </a:lnSpc>
                        <a:defRPr/>
                      </a:pPr>
                      <a:r>
                        <a:rPr lang="en-US" sz="185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Rule-Based Thresholds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Static Min/Max Limits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Zero compute overhead, instant setup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Incapable of capturing inter-sensor dynamics; high false alarms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</a:tr>
              <a:tr h="990600">
                <a:tc>
                  <a:txBody>
                    <a:bodyPr/>
                    <a:p>
                      <a:pPr algn="ctr">
                        <a:lnSpc>
                          <a:spcPts val="2249"/>
                        </a:lnSpc>
                        <a:defRPr/>
                      </a:pPr>
                      <a:r>
                        <a:rPr lang="en-US" sz="185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Classic LSTM-AE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Reconstruction Error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Detects temporal sequential drift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High computational latency; fails to capture spatial graph topology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</a:tr>
              <a:tr h="990600">
                <a:tc>
                  <a:txBody>
                    <a:bodyPr/>
                    <a:p>
                      <a:pPr algn="ctr">
                        <a:lnSpc>
                          <a:spcPts val="2249"/>
                        </a:lnSpc>
                        <a:defRPr/>
                      </a:pPr>
                      <a:r>
                        <a:rPr lang="en-US" sz="185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Cloud Transformer AI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Full Attention Layers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High precision on complex data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Requires constant cloud connectivity, high bandwidth &amp; cost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</a:tcPr>
                </a:tc>
              </a:tr>
              <a:tr h="990600">
                <a:tc>
                  <a:txBody>
                    <a:bodyPr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Adaptive Graph Neural Nets + Dynamic Scoring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Captures joint spatial-temporal interplay at low compute footprint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128"/>
                        </a:lnSpc>
                        <a:defRPr/>
                      </a:pPr>
                      <a:r>
                        <a:rPr lang="en-US" sz="175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Requires short initialization window (~2 mins)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63500" marR="63500" marT="63500" marB="63500" anchor="ctr">
                    <a:lnL w="4762" algn="ctr">
                      <a:solidFill>
                        <a:srgbClr val="000000"/>
                      </a:solidFill>
                    </a:lnL>
                    <a:lnR w="4762" algn="ctr">
                      <a:solidFill>
                        <a:srgbClr val="000000"/>
                      </a:solidFill>
                    </a:lnR>
                    <a:lnT w="4762" algn="ctr">
                      <a:solidFill>
                        <a:srgbClr val="000000"/>
                      </a:solidFill>
                    </a:lnT>
                    <a:lnB w="4762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grpSp>
        <p:nvGrpSpPr>
          <p:cNvPr id="236199143" name="Group 9"/>
          <p:cNvGrpSpPr/>
          <p:nvPr/>
        </p:nvGrpSpPr>
        <p:grpSpPr bwMode="auto">
          <a:xfrm rot="0">
            <a:off x="814388" y="5493544"/>
            <a:ext cx="2266378" cy="14288"/>
            <a:chOff x="0" y="0"/>
            <a:chExt cx="3021838" cy="19050"/>
          </a:xfrm>
        </p:grpSpPr>
        <p:sp>
          <p:nvSpPr>
            <p:cNvPr id="10" name="Freeform 10"/>
            <p:cNvSpPr/>
            <p:nvPr/>
          </p:nvSpPr>
          <p:spPr bwMode="auto">
            <a:xfrm rot="0" flipH="0" flipV="0">
              <a:off x="0" y="0"/>
              <a:ext cx="3021838" cy="19050"/>
            </a:xfrm>
            <a:custGeom>
              <a:avLst/>
              <a:gdLst/>
              <a:ahLst/>
              <a:cxnLst/>
              <a:rect l="l" t="t" r="r" b="b"/>
              <a:pathLst>
                <a:path w="3021838" h="19050" fill="norm" stroke="1" extrusionOk="0">
                  <a:moveTo>
                    <a:pt x="0" y="0"/>
                  </a:moveTo>
                  <a:lnTo>
                    <a:pt x="3021838" y="0"/>
                  </a:lnTo>
                  <a:lnTo>
                    <a:pt x="302183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322804716" name="Group 11"/>
          <p:cNvGrpSpPr/>
          <p:nvPr/>
        </p:nvGrpSpPr>
        <p:grpSpPr bwMode="auto">
          <a:xfrm rot="0">
            <a:off x="3080737" y="5493544"/>
            <a:ext cx="3507772" cy="14288"/>
            <a:chOff x="0" y="0"/>
            <a:chExt cx="4677029" cy="19050"/>
          </a:xfrm>
        </p:grpSpPr>
        <p:sp>
          <p:nvSpPr>
            <p:cNvPr id="12" name="Freeform 12"/>
            <p:cNvSpPr/>
            <p:nvPr/>
          </p:nvSpPr>
          <p:spPr bwMode="auto">
            <a:xfrm rot="0" flipH="0" flipV="0">
              <a:off x="0" y="0"/>
              <a:ext cx="4677029" cy="19050"/>
            </a:xfrm>
            <a:custGeom>
              <a:avLst/>
              <a:gdLst/>
              <a:ahLst/>
              <a:cxnLst/>
              <a:rect l="l" t="t" r="r" b="b"/>
              <a:pathLst>
                <a:path w="4677029" h="19050" fill="norm" stroke="1" extrusionOk="0">
                  <a:moveTo>
                    <a:pt x="0" y="0"/>
                  </a:moveTo>
                  <a:lnTo>
                    <a:pt x="4677029" y="0"/>
                  </a:lnTo>
                  <a:lnTo>
                    <a:pt x="467702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388824671" name="Group 13"/>
          <p:cNvGrpSpPr/>
          <p:nvPr/>
        </p:nvGrpSpPr>
        <p:grpSpPr bwMode="auto">
          <a:xfrm rot="0">
            <a:off x="6588547" y="5493544"/>
            <a:ext cx="4313015" cy="14288"/>
            <a:chOff x="0" y="0"/>
            <a:chExt cx="5750687" cy="19050"/>
          </a:xfrm>
        </p:grpSpPr>
        <p:sp>
          <p:nvSpPr>
            <p:cNvPr id="14" name="Freeform 14"/>
            <p:cNvSpPr/>
            <p:nvPr/>
          </p:nvSpPr>
          <p:spPr bwMode="auto">
            <a:xfrm rot="0" flipH="0" flipV="0">
              <a:off x="0" y="0"/>
              <a:ext cx="5750687" cy="19050"/>
            </a:xfrm>
            <a:custGeom>
              <a:avLst/>
              <a:gdLst/>
              <a:ahLst/>
              <a:cxnLst/>
              <a:rect l="l" t="t" r="r" b="b"/>
              <a:pathLst>
                <a:path w="5750687" h="19050" fill="norm" stroke="1" extrusionOk="0">
                  <a:moveTo>
                    <a:pt x="0" y="0"/>
                  </a:moveTo>
                  <a:lnTo>
                    <a:pt x="5750687" y="0"/>
                  </a:lnTo>
                  <a:lnTo>
                    <a:pt x="575068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158394784" name="Group 15"/>
          <p:cNvGrpSpPr/>
          <p:nvPr/>
        </p:nvGrpSpPr>
        <p:grpSpPr bwMode="auto">
          <a:xfrm rot="0">
            <a:off x="10901582" y="5493544"/>
            <a:ext cx="4444746" cy="14288"/>
            <a:chOff x="0" y="0"/>
            <a:chExt cx="5926328" cy="19050"/>
          </a:xfrm>
        </p:grpSpPr>
        <p:sp>
          <p:nvSpPr>
            <p:cNvPr id="16" name="Freeform 16"/>
            <p:cNvSpPr/>
            <p:nvPr/>
          </p:nvSpPr>
          <p:spPr bwMode="auto">
            <a:xfrm rot="0" flipH="0" flipV="0">
              <a:off x="0" y="0"/>
              <a:ext cx="5926328" cy="19050"/>
            </a:xfrm>
            <a:custGeom>
              <a:avLst/>
              <a:gdLst/>
              <a:ahLst/>
              <a:cxnLst/>
              <a:rect l="l" t="t" r="r" b="b"/>
              <a:pathLst>
                <a:path w="5926328" h="19050" fill="norm" stroke="1" extrusionOk="0">
                  <a:moveTo>
                    <a:pt x="0" y="0"/>
                  </a:moveTo>
                  <a:lnTo>
                    <a:pt x="5926328" y="0"/>
                  </a:lnTo>
                  <a:lnTo>
                    <a:pt x="592632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44602525" name="Group 17"/>
          <p:cNvGrpSpPr/>
          <p:nvPr/>
        </p:nvGrpSpPr>
        <p:grpSpPr bwMode="auto">
          <a:xfrm rot="0">
            <a:off x="15346337" y="5493544"/>
            <a:ext cx="2127314" cy="14288"/>
            <a:chOff x="0" y="0"/>
            <a:chExt cx="2836418" cy="19050"/>
          </a:xfrm>
        </p:grpSpPr>
        <p:sp>
          <p:nvSpPr>
            <p:cNvPr id="18" name="Freeform 18"/>
            <p:cNvSpPr/>
            <p:nvPr/>
          </p:nvSpPr>
          <p:spPr bwMode="auto">
            <a:xfrm rot="0" flipH="0" flipV="0">
              <a:off x="0" y="0"/>
              <a:ext cx="2836418" cy="19050"/>
            </a:xfrm>
            <a:custGeom>
              <a:avLst/>
              <a:gdLst/>
              <a:ahLst/>
              <a:cxnLst/>
              <a:rect l="l" t="t" r="r" b="b"/>
              <a:pathLst>
                <a:path w="2836418" h="19050" fill="norm" stroke="1" extrusionOk="0">
                  <a:moveTo>
                    <a:pt x="0" y="0"/>
                  </a:moveTo>
                  <a:lnTo>
                    <a:pt x="2836418" y="0"/>
                  </a:lnTo>
                  <a:lnTo>
                    <a:pt x="283641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616349481" name="Group 19"/>
          <p:cNvGrpSpPr/>
          <p:nvPr/>
        </p:nvGrpSpPr>
        <p:grpSpPr bwMode="auto">
          <a:xfrm rot="0">
            <a:off x="814388" y="6507956"/>
            <a:ext cx="2266378" cy="14288"/>
            <a:chOff x="0" y="0"/>
            <a:chExt cx="3021838" cy="19050"/>
          </a:xfrm>
        </p:grpSpPr>
        <p:sp>
          <p:nvSpPr>
            <p:cNvPr id="20" name="Freeform 20"/>
            <p:cNvSpPr/>
            <p:nvPr/>
          </p:nvSpPr>
          <p:spPr bwMode="auto">
            <a:xfrm rot="0" flipH="0" flipV="0">
              <a:off x="0" y="0"/>
              <a:ext cx="3021838" cy="19050"/>
            </a:xfrm>
            <a:custGeom>
              <a:avLst/>
              <a:gdLst/>
              <a:ahLst/>
              <a:cxnLst/>
              <a:rect l="l" t="t" r="r" b="b"/>
              <a:pathLst>
                <a:path w="3021838" h="19050" fill="norm" stroke="1" extrusionOk="0">
                  <a:moveTo>
                    <a:pt x="0" y="0"/>
                  </a:moveTo>
                  <a:lnTo>
                    <a:pt x="3021838" y="0"/>
                  </a:lnTo>
                  <a:lnTo>
                    <a:pt x="302183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673014073" name="Group 21"/>
          <p:cNvGrpSpPr/>
          <p:nvPr/>
        </p:nvGrpSpPr>
        <p:grpSpPr bwMode="auto">
          <a:xfrm rot="0">
            <a:off x="3080737" y="6507956"/>
            <a:ext cx="3507772" cy="14288"/>
            <a:chOff x="0" y="0"/>
            <a:chExt cx="4677029" cy="19050"/>
          </a:xfrm>
        </p:grpSpPr>
        <p:sp>
          <p:nvSpPr>
            <p:cNvPr id="22" name="Freeform 22"/>
            <p:cNvSpPr/>
            <p:nvPr/>
          </p:nvSpPr>
          <p:spPr bwMode="auto">
            <a:xfrm rot="0" flipH="0" flipV="0">
              <a:off x="0" y="0"/>
              <a:ext cx="4677029" cy="19050"/>
            </a:xfrm>
            <a:custGeom>
              <a:avLst/>
              <a:gdLst/>
              <a:ahLst/>
              <a:cxnLst/>
              <a:rect l="l" t="t" r="r" b="b"/>
              <a:pathLst>
                <a:path w="4677029" h="19050" fill="norm" stroke="1" extrusionOk="0">
                  <a:moveTo>
                    <a:pt x="0" y="0"/>
                  </a:moveTo>
                  <a:lnTo>
                    <a:pt x="4677029" y="0"/>
                  </a:lnTo>
                  <a:lnTo>
                    <a:pt x="467702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790758063" name="Group 23"/>
          <p:cNvGrpSpPr/>
          <p:nvPr/>
        </p:nvGrpSpPr>
        <p:grpSpPr bwMode="auto">
          <a:xfrm rot="0">
            <a:off x="6588547" y="6507956"/>
            <a:ext cx="4313015" cy="14288"/>
            <a:chOff x="0" y="0"/>
            <a:chExt cx="5750687" cy="19050"/>
          </a:xfrm>
        </p:grpSpPr>
        <p:sp>
          <p:nvSpPr>
            <p:cNvPr id="24" name="Freeform 24"/>
            <p:cNvSpPr/>
            <p:nvPr/>
          </p:nvSpPr>
          <p:spPr bwMode="auto">
            <a:xfrm rot="0" flipH="0" flipV="0">
              <a:off x="0" y="0"/>
              <a:ext cx="5750687" cy="19050"/>
            </a:xfrm>
            <a:custGeom>
              <a:avLst/>
              <a:gdLst/>
              <a:ahLst/>
              <a:cxnLst/>
              <a:rect l="l" t="t" r="r" b="b"/>
              <a:pathLst>
                <a:path w="5750687" h="19050" fill="norm" stroke="1" extrusionOk="0">
                  <a:moveTo>
                    <a:pt x="0" y="0"/>
                  </a:moveTo>
                  <a:lnTo>
                    <a:pt x="5750687" y="0"/>
                  </a:lnTo>
                  <a:lnTo>
                    <a:pt x="575068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421952216" name="Group 25"/>
          <p:cNvGrpSpPr/>
          <p:nvPr/>
        </p:nvGrpSpPr>
        <p:grpSpPr bwMode="auto">
          <a:xfrm rot="0">
            <a:off x="10901582" y="6507956"/>
            <a:ext cx="4444746" cy="14288"/>
            <a:chOff x="0" y="0"/>
            <a:chExt cx="5926328" cy="19050"/>
          </a:xfrm>
        </p:grpSpPr>
        <p:sp>
          <p:nvSpPr>
            <p:cNvPr id="26" name="Freeform 26"/>
            <p:cNvSpPr/>
            <p:nvPr/>
          </p:nvSpPr>
          <p:spPr bwMode="auto">
            <a:xfrm rot="0" flipH="0" flipV="0">
              <a:off x="0" y="0"/>
              <a:ext cx="5926328" cy="19050"/>
            </a:xfrm>
            <a:custGeom>
              <a:avLst/>
              <a:gdLst/>
              <a:ahLst/>
              <a:cxnLst/>
              <a:rect l="l" t="t" r="r" b="b"/>
              <a:pathLst>
                <a:path w="5926328" h="19050" fill="norm" stroke="1" extrusionOk="0">
                  <a:moveTo>
                    <a:pt x="0" y="0"/>
                  </a:moveTo>
                  <a:lnTo>
                    <a:pt x="5926328" y="0"/>
                  </a:lnTo>
                  <a:lnTo>
                    <a:pt x="592632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028976658" name="Group 27"/>
          <p:cNvGrpSpPr/>
          <p:nvPr/>
        </p:nvGrpSpPr>
        <p:grpSpPr bwMode="auto">
          <a:xfrm rot="0">
            <a:off x="15346337" y="6507956"/>
            <a:ext cx="2127314" cy="14288"/>
            <a:chOff x="0" y="0"/>
            <a:chExt cx="2836418" cy="19050"/>
          </a:xfrm>
        </p:grpSpPr>
        <p:sp>
          <p:nvSpPr>
            <p:cNvPr id="28" name="Freeform 28"/>
            <p:cNvSpPr/>
            <p:nvPr/>
          </p:nvSpPr>
          <p:spPr bwMode="auto">
            <a:xfrm rot="0" flipH="0" flipV="0">
              <a:off x="0" y="0"/>
              <a:ext cx="2836418" cy="19050"/>
            </a:xfrm>
            <a:custGeom>
              <a:avLst/>
              <a:gdLst/>
              <a:ahLst/>
              <a:cxnLst/>
              <a:rect l="l" t="t" r="r" b="b"/>
              <a:pathLst>
                <a:path w="2836418" h="19050" fill="norm" stroke="1" extrusionOk="0">
                  <a:moveTo>
                    <a:pt x="0" y="0"/>
                  </a:moveTo>
                  <a:lnTo>
                    <a:pt x="2836418" y="0"/>
                  </a:lnTo>
                  <a:lnTo>
                    <a:pt x="283641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486321164" name="Group 29"/>
          <p:cNvGrpSpPr/>
          <p:nvPr/>
        </p:nvGrpSpPr>
        <p:grpSpPr bwMode="auto">
          <a:xfrm rot="0">
            <a:off x="814388" y="7522369"/>
            <a:ext cx="2266378" cy="14288"/>
            <a:chOff x="0" y="0"/>
            <a:chExt cx="3021838" cy="19050"/>
          </a:xfrm>
        </p:grpSpPr>
        <p:sp>
          <p:nvSpPr>
            <p:cNvPr id="30" name="Freeform 30"/>
            <p:cNvSpPr/>
            <p:nvPr/>
          </p:nvSpPr>
          <p:spPr bwMode="auto">
            <a:xfrm rot="0" flipH="0" flipV="0">
              <a:off x="0" y="0"/>
              <a:ext cx="3021838" cy="19050"/>
            </a:xfrm>
            <a:custGeom>
              <a:avLst/>
              <a:gdLst/>
              <a:ahLst/>
              <a:cxnLst/>
              <a:rect l="l" t="t" r="r" b="b"/>
              <a:pathLst>
                <a:path w="3021838" h="19050" fill="norm" stroke="1" extrusionOk="0">
                  <a:moveTo>
                    <a:pt x="0" y="0"/>
                  </a:moveTo>
                  <a:lnTo>
                    <a:pt x="3021838" y="0"/>
                  </a:lnTo>
                  <a:lnTo>
                    <a:pt x="302183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210056403" name="Group 31"/>
          <p:cNvGrpSpPr/>
          <p:nvPr/>
        </p:nvGrpSpPr>
        <p:grpSpPr bwMode="auto">
          <a:xfrm rot="0">
            <a:off x="3080737" y="7522369"/>
            <a:ext cx="3507772" cy="14288"/>
            <a:chOff x="0" y="0"/>
            <a:chExt cx="4677029" cy="19050"/>
          </a:xfrm>
        </p:grpSpPr>
        <p:sp>
          <p:nvSpPr>
            <p:cNvPr id="32" name="Freeform 32"/>
            <p:cNvSpPr/>
            <p:nvPr/>
          </p:nvSpPr>
          <p:spPr bwMode="auto">
            <a:xfrm rot="0" flipH="0" flipV="0">
              <a:off x="0" y="0"/>
              <a:ext cx="4677029" cy="19050"/>
            </a:xfrm>
            <a:custGeom>
              <a:avLst/>
              <a:gdLst/>
              <a:ahLst/>
              <a:cxnLst/>
              <a:rect l="l" t="t" r="r" b="b"/>
              <a:pathLst>
                <a:path w="4677029" h="19050" fill="norm" stroke="1" extrusionOk="0">
                  <a:moveTo>
                    <a:pt x="0" y="0"/>
                  </a:moveTo>
                  <a:lnTo>
                    <a:pt x="4677029" y="0"/>
                  </a:lnTo>
                  <a:lnTo>
                    <a:pt x="467702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2088039714" name="Group 33"/>
          <p:cNvGrpSpPr/>
          <p:nvPr/>
        </p:nvGrpSpPr>
        <p:grpSpPr bwMode="auto">
          <a:xfrm rot="0">
            <a:off x="6588547" y="7522369"/>
            <a:ext cx="4313015" cy="14288"/>
            <a:chOff x="0" y="0"/>
            <a:chExt cx="5750687" cy="19050"/>
          </a:xfrm>
        </p:grpSpPr>
        <p:sp>
          <p:nvSpPr>
            <p:cNvPr id="34" name="Freeform 34"/>
            <p:cNvSpPr/>
            <p:nvPr/>
          </p:nvSpPr>
          <p:spPr bwMode="auto">
            <a:xfrm rot="0" flipH="0" flipV="0">
              <a:off x="0" y="0"/>
              <a:ext cx="5750687" cy="19050"/>
            </a:xfrm>
            <a:custGeom>
              <a:avLst/>
              <a:gdLst/>
              <a:ahLst/>
              <a:cxnLst/>
              <a:rect l="l" t="t" r="r" b="b"/>
              <a:pathLst>
                <a:path w="5750687" h="19050" fill="norm" stroke="1" extrusionOk="0">
                  <a:moveTo>
                    <a:pt x="0" y="0"/>
                  </a:moveTo>
                  <a:lnTo>
                    <a:pt x="5750687" y="0"/>
                  </a:lnTo>
                  <a:lnTo>
                    <a:pt x="575068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825719009" name="Group 35"/>
          <p:cNvGrpSpPr/>
          <p:nvPr/>
        </p:nvGrpSpPr>
        <p:grpSpPr bwMode="auto">
          <a:xfrm rot="0">
            <a:off x="10901582" y="7522369"/>
            <a:ext cx="4444746" cy="14288"/>
            <a:chOff x="0" y="0"/>
            <a:chExt cx="5926328" cy="19050"/>
          </a:xfrm>
        </p:grpSpPr>
        <p:sp>
          <p:nvSpPr>
            <p:cNvPr id="36" name="Freeform 36"/>
            <p:cNvSpPr/>
            <p:nvPr/>
          </p:nvSpPr>
          <p:spPr bwMode="auto">
            <a:xfrm rot="0" flipH="0" flipV="0">
              <a:off x="0" y="0"/>
              <a:ext cx="5926328" cy="19050"/>
            </a:xfrm>
            <a:custGeom>
              <a:avLst/>
              <a:gdLst/>
              <a:ahLst/>
              <a:cxnLst/>
              <a:rect l="l" t="t" r="r" b="b"/>
              <a:pathLst>
                <a:path w="5926328" h="19050" fill="norm" stroke="1" extrusionOk="0">
                  <a:moveTo>
                    <a:pt x="0" y="0"/>
                  </a:moveTo>
                  <a:lnTo>
                    <a:pt x="5926328" y="0"/>
                  </a:lnTo>
                  <a:lnTo>
                    <a:pt x="592632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2097042015" name="Group 37"/>
          <p:cNvGrpSpPr/>
          <p:nvPr/>
        </p:nvGrpSpPr>
        <p:grpSpPr bwMode="auto">
          <a:xfrm rot="0">
            <a:off x="15346337" y="7522369"/>
            <a:ext cx="2127314" cy="14288"/>
            <a:chOff x="0" y="0"/>
            <a:chExt cx="2836418" cy="19050"/>
          </a:xfrm>
        </p:grpSpPr>
        <p:sp>
          <p:nvSpPr>
            <p:cNvPr id="38" name="Freeform 38"/>
            <p:cNvSpPr/>
            <p:nvPr/>
          </p:nvSpPr>
          <p:spPr bwMode="auto">
            <a:xfrm rot="0" flipH="0" flipV="0">
              <a:off x="0" y="0"/>
              <a:ext cx="2836418" cy="19050"/>
            </a:xfrm>
            <a:custGeom>
              <a:avLst/>
              <a:gdLst/>
              <a:ahLst/>
              <a:cxnLst/>
              <a:rect l="l" t="t" r="r" b="b"/>
              <a:pathLst>
                <a:path w="2836418" h="19050" fill="norm" stroke="1" extrusionOk="0">
                  <a:moveTo>
                    <a:pt x="0" y="0"/>
                  </a:moveTo>
                  <a:lnTo>
                    <a:pt x="2836418" y="0"/>
                  </a:lnTo>
                  <a:lnTo>
                    <a:pt x="283641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138136937" name="Group 39"/>
          <p:cNvGrpSpPr/>
          <p:nvPr/>
        </p:nvGrpSpPr>
        <p:grpSpPr bwMode="auto">
          <a:xfrm rot="0">
            <a:off x="15533637" y="4702969"/>
            <a:ext cx="1612964" cy="600075"/>
            <a:chOff x="0" y="0"/>
            <a:chExt cx="2150618" cy="800100"/>
          </a:xfrm>
        </p:grpSpPr>
        <p:sp>
          <p:nvSpPr>
            <p:cNvPr id="40" name="Freeform 40" descr="image.png"/>
            <p:cNvSpPr/>
            <p:nvPr/>
          </p:nvSpPr>
          <p:spPr bwMode="auto">
            <a:xfrm rot="0" flipH="0" flipV="0">
              <a:off x="0" y="0"/>
              <a:ext cx="2150618" cy="800100"/>
            </a:xfrm>
            <a:custGeom>
              <a:avLst/>
              <a:gdLst/>
              <a:ahLst/>
              <a:cxnLst/>
              <a:rect l="l" t="t" r="r" b="b"/>
              <a:pathLst>
                <a:path w="2150618" h="800100" fill="norm" stroke="1" extrusionOk="0">
                  <a:moveTo>
                    <a:pt x="0" y="0"/>
                  </a:moveTo>
                  <a:lnTo>
                    <a:pt x="2150618" y="0"/>
                  </a:lnTo>
                  <a:lnTo>
                    <a:pt x="2150618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-47" t="0" r="-46" b="0"/>
              </a:stretch>
            </a:blipFill>
          </p:spPr>
        </p:sp>
      </p:grpSp>
      <p:grpSp>
        <p:nvGrpSpPr>
          <p:cNvPr id="1974032704" name="Group 41"/>
          <p:cNvGrpSpPr/>
          <p:nvPr/>
        </p:nvGrpSpPr>
        <p:grpSpPr bwMode="auto">
          <a:xfrm rot="0">
            <a:off x="15603512" y="5843588"/>
            <a:ext cx="1543050" cy="342900"/>
            <a:chOff x="0" y="0"/>
            <a:chExt cx="2057400" cy="457200"/>
          </a:xfrm>
        </p:grpSpPr>
        <p:sp>
          <p:nvSpPr>
            <p:cNvPr id="42" name="Freeform 42" descr="image.png"/>
            <p:cNvSpPr/>
            <p:nvPr/>
          </p:nvSpPr>
          <p:spPr bwMode="auto">
            <a:xfrm rot="0" flipH="0" flipV="0">
              <a:off x="0" y="0"/>
              <a:ext cx="2057400" cy="457200"/>
            </a:xfrm>
            <a:custGeom>
              <a:avLst/>
              <a:gdLst/>
              <a:ahLst/>
              <a:cxnLst/>
              <a:rect l="l" t="t" r="r" b="b"/>
              <a:pathLst>
                <a:path w="2057400" h="457200" fill="norm" stroke="1" extrusionOk="0">
                  <a:moveTo>
                    <a:pt x="0" y="0"/>
                  </a:moveTo>
                  <a:lnTo>
                    <a:pt x="2057400" y="0"/>
                  </a:lnTo>
                  <a:lnTo>
                    <a:pt x="20574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-462" t="0" r="-462" b="0"/>
              </a:stretch>
            </a:blipFill>
          </p:spPr>
        </p:sp>
      </p:grpSp>
      <p:grpSp>
        <p:nvGrpSpPr>
          <p:cNvPr id="1131261173" name="Group 43"/>
          <p:cNvGrpSpPr/>
          <p:nvPr/>
        </p:nvGrpSpPr>
        <p:grpSpPr bwMode="auto">
          <a:xfrm rot="0">
            <a:off x="15603512" y="6729412"/>
            <a:ext cx="1612964" cy="600075"/>
            <a:chOff x="0" y="0"/>
            <a:chExt cx="2150618" cy="800100"/>
          </a:xfrm>
        </p:grpSpPr>
        <p:sp>
          <p:nvSpPr>
            <p:cNvPr id="44" name="Freeform 44" descr="image.png"/>
            <p:cNvSpPr/>
            <p:nvPr/>
          </p:nvSpPr>
          <p:spPr bwMode="auto">
            <a:xfrm rot="0" flipH="0" flipV="0">
              <a:off x="0" y="0"/>
              <a:ext cx="2150618" cy="800100"/>
            </a:xfrm>
            <a:custGeom>
              <a:avLst/>
              <a:gdLst/>
              <a:ahLst/>
              <a:cxnLst/>
              <a:rect l="l" t="t" r="r" b="b"/>
              <a:pathLst>
                <a:path w="2150618" h="800100" fill="norm" stroke="1" extrusionOk="0">
                  <a:moveTo>
                    <a:pt x="0" y="0"/>
                  </a:moveTo>
                  <a:lnTo>
                    <a:pt x="2150618" y="0"/>
                  </a:lnTo>
                  <a:lnTo>
                    <a:pt x="2150618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-47" t="0" r="-46" b="0"/>
              </a:stretch>
            </a:blipFill>
          </p:spPr>
        </p:sp>
      </p:grpSp>
      <p:grpSp>
        <p:nvGrpSpPr>
          <p:cNvPr id="1106980151" name="Group 45"/>
          <p:cNvGrpSpPr/>
          <p:nvPr/>
        </p:nvGrpSpPr>
        <p:grpSpPr bwMode="auto">
          <a:xfrm rot="0">
            <a:off x="1071562" y="7743825"/>
            <a:ext cx="1752028" cy="600075"/>
            <a:chOff x="0" y="0"/>
            <a:chExt cx="2336038" cy="800100"/>
          </a:xfrm>
        </p:grpSpPr>
        <p:sp>
          <p:nvSpPr>
            <p:cNvPr id="46" name="Freeform 46" descr="image.png"/>
            <p:cNvSpPr/>
            <p:nvPr/>
          </p:nvSpPr>
          <p:spPr bwMode="auto">
            <a:xfrm rot="0" flipH="0" flipV="0">
              <a:off x="0" y="0"/>
              <a:ext cx="2336038" cy="800100"/>
            </a:xfrm>
            <a:custGeom>
              <a:avLst/>
              <a:gdLst/>
              <a:ahLst/>
              <a:cxnLst/>
              <a:rect l="l" t="t" r="r" b="b"/>
              <a:pathLst>
                <a:path w="2336038" h="800100" fill="norm" stroke="1" extrusionOk="0">
                  <a:moveTo>
                    <a:pt x="0" y="0"/>
                  </a:moveTo>
                  <a:lnTo>
                    <a:pt x="2336038" y="0"/>
                  </a:lnTo>
                  <a:lnTo>
                    <a:pt x="2336038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-152" t="0" r="-152" b="0"/>
              </a:stretch>
            </a:blipFill>
          </p:spPr>
        </p:sp>
      </p:grpSp>
      <p:grpSp>
        <p:nvGrpSpPr>
          <p:cNvPr id="1830773479" name="Group 47"/>
          <p:cNvGrpSpPr/>
          <p:nvPr/>
        </p:nvGrpSpPr>
        <p:grpSpPr bwMode="auto">
          <a:xfrm rot="0">
            <a:off x="15603512" y="7743825"/>
            <a:ext cx="1612964" cy="600075"/>
            <a:chOff x="0" y="0"/>
            <a:chExt cx="2150618" cy="800100"/>
          </a:xfrm>
        </p:grpSpPr>
        <p:sp>
          <p:nvSpPr>
            <p:cNvPr id="48" name="Freeform 48" descr="image.png"/>
            <p:cNvSpPr/>
            <p:nvPr/>
          </p:nvSpPr>
          <p:spPr bwMode="auto">
            <a:xfrm rot="0" flipH="0" flipV="0">
              <a:off x="0" y="0"/>
              <a:ext cx="2150618" cy="800100"/>
            </a:xfrm>
            <a:custGeom>
              <a:avLst/>
              <a:gdLst/>
              <a:ahLst/>
              <a:cxnLst/>
              <a:rect l="l" t="t" r="r" b="b"/>
              <a:pathLst>
                <a:path w="2150618" h="800100" fill="norm" stroke="1" extrusionOk="0">
                  <a:moveTo>
                    <a:pt x="0" y="0"/>
                  </a:moveTo>
                  <a:lnTo>
                    <a:pt x="2150618" y="0"/>
                  </a:lnTo>
                  <a:lnTo>
                    <a:pt x="2150618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-47" t="0" r="-46" b="0"/>
              </a:stretch>
            </a:blipFill>
          </p:spPr>
        </p:sp>
      </p:grpSp>
      <p:sp>
        <p:nvSpPr>
          <p:cNvPr id="784131880" name="TextBox 49"/>
          <p:cNvSpPr txBox="1"/>
          <p:nvPr/>
        </p:nvSpPr>
        <p:spPr bwMode="auto">
          <a:xfrm rot="0">
            <a:off x="838200" y="1666875"/>
            <a:ext cx="17487900" cy="652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  <a:defRPr/>
            </a:pPr>
            <a:r>
              <a:rPr lang="en-US" sz="38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Research &amp; Prior Art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9256979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822306247" name="Group 4"/>
          <p:cNvGrpSpPr/>
          <p:nvPr/>
        </p:nvGrpSpPr>
        <p:grpSpPr bwMode="auto">
          <a:xfrm rot="0">
            <a:off x="2766385" y="4457212"/>
            <a:ext cx="11364097" cy="5602925"/>
            <a:chOff x="0" y="0"/>
            <a:chExt cx="2993013" cy="1475668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993013" cy="1475667"/>
            </a:xfrm>
            <a:custGeom>
              <a:avLst/>
              <a:gdLst/>
              <a:ahLst/>
              <a:cxnLst/>
              <a:rect l="l" t="t" r="r" b="b"/>
              <a:pathLst>
                <a:path w="2993013" h="1475667" fill="norm" stroke="1" extrusionOk="0">
                  <a:moveTo>
                    <a:pt x="0" y="0"/>
                  </a:moveTo>
                  <a:lnTo>
                    <a:pt x="2993013" y="0"/>
                  </a:lnTo>
                  <a:lnTo>
                    <a:pt x="2993013" y="1475667"/>
                  </a:lnTo>
                  <a:lnTo>
                    <a:pt x="0" y="147566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9525"/>
              <a:ext cx="2993013" cy="148519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59"/>
                </a:lnSpc>
                <a:defRPr/>
              </a:pPr>
              <a:endParaRPr/>
            </a:p>
          </p:txBody>
        </p:sp>
      </p:grpSp>
      <p:grpSp>
        <p:nvGrpSpPr>
          <p:cNvPr id="354345497" name="Group 7"/>
          <p:cNvGrpSpPr/>
          <p:nvPr/>
        </p:nvGrpSpPr>
        <p:grpSpPr bwMode="auto">
          <a:xfrm rot="0">
            <a:off x="714375" y="2809759"/>
            <a:ext cx="8143875" cy="1447429"/>
            <a:chOff x="0" y="0"/>
            <a:chExt cx="10858500" cy="1929905"/>
          </a:xfrm>
        </p:grpSpPr>
        <p:sp>
          <p:nvSpPr>
            <p:cNvPr id="8" name="Freeform 8" descr="image.png"/>
            <p:cNvSpPr/>
            <p:nvPr/>
          </p:nvSpPr>
          <p:spPr bwMode="auto">
            <a:xfrm rot="0" flipH="0" flipV="0">
              <a:off x="0" y="0"/>
              <a:ext cx="10858500" cy="1929905"/>
            </a:xfrm>
            <a:custGeom>
              <a:avLst/>
              <a:gdLst/>
              <a:ahLst/>
              <a:cxnLst/>
              <a:rect l="l" t="t" r="r" b="b"/>
              <a:pathLst>
                <a:path w="10858500" h="1929905" fill="norm" stroke="1" extrusionOk="0">
                  <a:moveTo>
                    <a:pt x="0" y="0"/>
                  </a:moveTo>
                  <a:lnTo>
                    <a:pt x="10858500" y="0"/>
                  </a:lnTo>
                  <a:lnTo>
                    <a:pt x="10858500" y="1929905"/>
                  </a:lnTo>
                  <a:lnTo>
                    <a:pt x="0" y="19299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17616" r="0" b="-17616"/>
              </a:stretch>
            </a:blipFill>
          </p:spPr>
        </p:sp>
      </p:grpSp>
      <p:grpSp>
        <p:nvGrpSpPr>
          <p:cNvPr id="2124279359" name="Group 9"/>
          <p:cNvGrpSpPr/>
          <p:nvPr/>
        </p:nvGrpSpPr>
        <p:grpSpPr bwMode="auto">
          <a:xfrm rot="0">
            <a:off x="1014412" y="3502703"/>
            <a:ext cx="214312" cy="285750"/>
            <a:chOff x="0" y="0"/>
            <a:chExt cx="285750" cy="381000"/>
          </a:xfrm>
        </p:grpSpPr>
        <p:sp>
          <p:nvSpPr>
            <p:cNvPr id="10" name="Freeform 10" descr="image.png"/>
            <p:cNvSpPr/>
            <p:nvPr/>
          </p:nvSpPr>
          <p:spPr bwMode="auto">
            <a:xfrm rot="0" flipH="0" flipV="0">
              <a:off x="0" y="0"/>
              <a:ext cx="285750" cy="381000"/>
            </a:xfrm>
            <a:custGeom>
              <a:avLst/>
              <a:gdLst/>
              <a:ahLst/>
              <a:cxnLst/>
              <a:rect l="l" t="t" r="r" b="b"/>
              <a:pathLst>
                <a:path w="285750" h="381000" fill="norm" stroke="1" extrusionOk="0">
                  <a:moveTo>
                    <a:pt x="0" y="0"/>
                  </a:moveTo>
                  <a:lnTo>
                    <a:pt x="285750" y="0"/>
                  </a:lnTo>
                  <a:lnTo>
                    <a:pt x="28575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id="757102700" name="Group 11"/>
          <p:cNvGrpSpPr/>
          <p:nvPr/>
        </p:nvGrpSpPr>
        <p:grpSpPr bwMode="auto">
          <a:xfrm rot="0">
            <a:off x="9738151" y="1381009"/>
            <a:ext cx="8143875" cy="3076204"/>
            <a:chOff x="0" y="0"/>
            <a:chExt cx="10858500" cy="4101605"/>
          </a:xfrm>
        </p:grpSpPr>
        <p:sp>
          <p:nvSpPr>
            <p:cNvPr id="12" name="Freeform 12" descr="image.png"/>
            <p:cNvSpPr/>
            <p:nvPr/>
          </p:nvSpPr>
          <p:spPr bwMode="auto">
            <a:xfrm rot="0" flipH="0" flipV="0">
              <a:off x="0" y="0"/>
              <a:ext cx="10858500" cy="4101605"/>
            </a:xfrm>
            <a:custGeom>
              <a:avLst/>
              <a:gdLst/>
              <a:ahLst/>
              <a:cxnLst/>
              <a:rect l="l" t="t" r="r" b="b"/>
              <a:pathLst>
                <a:path w="10858500" h="4101605" fill="norm" stroke="1" extrusionOk="0">
                  <a:moveTo>
                    <a:pt x="0" y="0"/>
                  </a:moveTo>
                  <a:lnTo>
                    <a:pt x="10858500" y="0"/>
                  </a:lnTo>
                  <a:lnTo>
                    <a:pt x="10858500" y="4101605"/>
                  </a:lnTo>
                  <a:lnTo>
                    <a:pt x="0" y="410160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0" t="-7824" r="0" b="-7823"/>
              </a:stretch>
            </a:blipFill>
          </p:spPr>
        </p:sp>
      </p:grpSp>
      <p:grpSp>
        <p:nvGrpSpPr>
          <p:cNvPr id="1115032043" name="Group 13"/>
          <p:cNvGrpSpPr/>
          <p:nvPr/>
        </p:nvGrpSpPr>
        <p:grpSpPr bwMode="auto">
          <a:xfrm rot="0">
            <a:off x="10038189" y="1723909"/>
            <a:ext cx="257175" cy="285750"/>
            <a:chOff x="0" y="0"/>
            <a:chExt cx="342900" cy="381000"/>
          </a:xfrm>
        </p:grpSpPr>
        <p:sp>
          <p:nvSpPr>
            <p:cNvPr id="14" name="Freeform 14" descr="image.png"/>
            <p:cNvSpPr/>
            <p:nvPr/>
          </p:nvSpPr>
          <p:spPr bwMode="auto">
            <a:xfrm rot="0" flipH="0" flipV="0">
              <a:off x="0" y="0"/>
              <a:ext cx="342900" cy="381000"/>
            </a:xfrm>
            <a:custGeom>
              <a:avLst/>
              <a:gdLst/>
              <a:ahLst/>
              <a:cxnLst/>
              <a:rect l="l" t="t" r="r" b="b"/>
              <a:pathLst>
                <a:path w="342900" h="381000" fill="norm" stroke="1" extrusionOk="0">
                  <a:moveTo>
                    <a:pt x="0" y="0"/>
                  </a:moveTo>
                  <a:lnTo>
                    <a:pt x="342900" y="0"/>
                  </a:lnTo>
                  <a:lnTo>
                    <a:pt x="3429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id="1433402643" name="Group 15"/>
          <p:cNvGrpSpPr/>
          <p:nvPr/>
        </p:nvGrpSpPr>
        <p:grpSpPr bwMode="auto">
          <a:xfrm rot="0">
            <a:off x="10038189" y="2223971"/>
            <a:ext cx="114300" cy="185738"/>
            <a:chOff x="0" y="0"/>
            <a:chExt cx="152400" cy="247650"/>
          </a:xfrm>
        </p:grpSpPr>
        <p:sp>
          <p:nvSpPr>
            <p:cNvPr id="16" name="Freeform 16" descr="image.png"/>
            <p:cNvSpPr/>
            <p:nvPr/>
          </p:nvSpPr>
          <p:spPr bwMode="auto">
            <a:xfrm rot="0" flipH="0" flipV="0">
              <a:off x="0" y="0"/>
              <a:ext cx="152400" cy="247650"/>
            </a:xfrm>
            <a:custGeom>
              <a:avLst/>
              <a:gdLst/>
              <a:ahLst/>
              <a:cxnLst/>
              <a:rect l="l" t="t" r="r" b="b"/>
              <a:pathLst>
                <a:path w="152400" h="247650" fill="norm" stroke="1" extrusionOk="0">
                  <a:moveTo>
                    <a:pt x="0" y="0"/>
                  </a:moveTo>
                  <a:lnTo>
                    <a:pt x="152400" y="0"/>
                  </a:lnTo>
                  <a:lnTo>
                    <a:pt x="152400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id="135415770" name="Group 17"/>
          <p:cNvGrpSpPr/>
          <p:nvPr/>
        </p:nvGrpSpPr>
        <p:grpSpPr bwMode="auto">
          <a:xfrm rot="0">
            <a:off x="10038189" y="3038359"/>
            <a:ext cx="114300" cy="185738"/>
            <a:chOff x="0" y="0"/>
            <a:chExt cx="152400" cy="247650"/>
          </a:xfrm>
        </p:grpSpPr>
        <p:sp>
          <p:nvSpPr>
            <p:cNvPr id="18" name="Freeform 18" descr="image.png"/>
            <p:cNvSpPr/>
            <p:nvPr/>
          </p:nvSpPr>
          <p:spPr bwMode="auto">
            <a:xfrm rot="0" flipH="0" flipV="0">
              <a:off x="0" y="0"/>
              <a:ext cx="152400" cy="247650"/>
            </a:xfrm>
            <a:custGeom>
              <a:avLst/>
              <a:gdLst/>
              <a:ahLst/>
              <a:cxnLst/>
              <a:rect l="l" t="t" r="r" b="b"/>
              <a:pathLst>
                <a:path w="152400" h="247650" fill="norm" stroke="1" extrusionOk="0">
                  <a:moveTo>
                    <a:pt x="0" y="0"/>
                  </a:moveTo>
                  <a:lnTo>
                    <a:pt x="152400" y="0"/>
                  </a:lnTo>
                  <a:lnTo>
                    <a:pt x="152400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id="159002336" name="Group 19"/>
          <p:cNvGrpSpPr/>
          <p:nvPr/>
        </p:nvGrpSpPr>
        <p:grpSpPr bwMode="auto">
          <a:xfrm rot="0">
            <a:off x="10038189" y="3852746"/>
            <a:ext cx="114300" cy="185738"/>
            <a:chOff x="0" y="0"/>
            <a:chExt cx="152400" cy="247650"/>
          </a:xfrm>
        </p:grpSpPr>
        <p:sp>
          <p:nvSpPr>
            <p:cNvPr id="20" name="Freeform 20" descr="image.png"/>
            <p:cNvSpPr/>
            <p:nvPr/>
          </p:nvSpPr>
          <p:spPr bwMode="auto">
            <a:xfrm rot="0" flipH="0" flipV="0">
              <a:off x="0" y="0"/>
              <a:ext cx="152400" cy="247650"/>
            </a:xfrm>
            <a:custGeom>
              <a:avLst/>
              <a:gdLst/>
              <a:ahLst/>
              <a:cxnLst/>
              <a:rect l="l" t="t" r="r" b="b"/>
              <a:pathLst>
                <a:path w="152400" h="247650" fill="norm" stroke="1" extrusionOk="0">
                  <a:moveTo>
                    <a:pt x="0" y="0"/>
                  </a:moveTo>
                  <a:lnTo>
                    <a:pt x="152400" y="0"/>
                  </a:lnTo>
                  <a:lnTo>
                    <a:pt x="152400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0" b="0"/>
              </a:stretch>
            </a:blipFill>
          </p:spPr>
        </p:sp>
      </p:grpSp>
      <p:sp>
        <p:nvSpPr>
          <p:cNvPr id="2075265816" name="TextBox 21"/>
          <p:cNvSpPr txBox="1"/>
          <p:nvPr/>
        </p:nvSpPr>
        <p:spPr bwMode="auto">
          <a:xfrm rot="0">
            <a:off x="10438239" y="1623896"/>
            <a:ext cx="4613824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lang="en-US" sz="2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Major Components &amp; Workflow</a:t>
            </a:r>
            <a:endParaRPr/>
          </a:p>
        </p:txBody>
      </p:sp>
      <p:sp>
        <p:nvSpPr>
          <p:cNvPr id="1302798375" name="TextBox 22"/>
          <p:cNvSpPr txBox="1"/>
          <p:nvPr/>
        </p:nvSpPr>
        <p:spPr bwMode="auto">
          <a:xfrm rot="0">
            <a:off x="10438239" y="2014421"/>
            <a:ext cx="7143750" cy="814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9"/>
              </a:lnSpc>
              <a:defRPr/>
            </a:pPr>
            <a:r>
              <a:rPr lang="en-US" sz="1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Data Model (Lane 1): PostgreSQL-backed, mutable Scenario and Recovery models loaded into memory at start.</a:t>
            </a:r>
            <a:endParaRPr/>
          </a:p>
        </p:txBody>
      </p:sp>
      <p:sp>
        <p:nvSpPr>
          <p:cNvPr id="97110225" name="TextBox 23"/>
          <p:cNvSpPr txBox="1"/>
          <p:nvPr/>
        </p:nvSpPr>
        <p:spPr bwMode="auto">
          <a:xfrm rot="0">
            <a:off x="10438239" y="2828809"/>
            <a:ext cx="7143750" cy="814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9"/>
              </a:lnSpc>
              <a:defRPr/>
            </a:pPr>
            <a:r>
              <a:rPr lang="en-US" sz="1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Propagation Engine (Lane 2): Pure Python, stateless discrete-tick loop capturing immutable snapshots.</a:t>
            </a:r>
            <a:endParaRPr/>
          </a:p>
        </p:txBody>
      </p:sp>
      <p:sp>
        <p:nvSpPr>
          <p:cNvPr id="1668890492" name="TextBox 24"/>
          <p:cNvSpPr txBox="1"/>
          <p:nvPr/>
        </p:nvSpPr>
        <p:spPr bwMode="auto">
          <a:xfrm rot="0">
            <a:off x="10438239" y="3643196"/>
            <a:ext cx="7143750" cy="814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9"/>
              </a:lnSpc>
              <a:defRPr/>
            </a:pPr>
            <a:r>
              <a:rPr lang="en-US" sz="1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Metrics &amp; Frontend (Lanes 3/4): Computes cascade depth, hop depth, and animates system state chronologically.</a:t>
            </a:r>
            <a:endParaRPr/>
          </a:p>
        </p:txBody>
      </p:sp>
      <p:sp>
        <p:nvSpPr>
          <p:cNvPr id="441479886" name="TextBox 25"/>
          <p:cNvSpPr txBox="1"/>
          <p:nvPr/>
        </p:nvSpPr>
        <p:spPr bwMode="auto">
          <a:xfrm rot="0">
            <a:off x="714375" y="1764390"/>
            <a:ext cx="8551069" cy="652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  <a:defRPr/>
            </a:pPr>
            <a:r>
              <a:rPr lang="en-US" sz="385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Proposed Approach</a:t>
            </a:r>
            <a:endParaRPr/>
          </a:p>
        </p:txBody>
      </p:sp>
      <p:sp>
        <p:nvSpPr>
          <p:cNvPr id="743335635" name="TextBox 26"/>
          <p:cNvSpPr txBox="1"/>
          <p:nvPr/>
        </p:nvSpPr>
        <p:spPr bwMode="auto">
          <a:xfrm rot="0">
            <a:off x="714375" y="6667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1381598582" name="TextBox 27"/>
          <p:cNvSpPr txBox="1"/>
          <p:nvPr/>
        </p:nvSpPr>
        <p:spPr bwMode="auto">
          <a:xfrm rot="0">
            <a:off x="6722269" y="626421"/>
            <a:ext cx="2135981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</a:t>
            </a:r>
            <a:endParaRPr/>
          </a:p>
        </p:txBody>
      </p:sp>
      <p:sp>
        <p:nvSpPr>
          <p:cNvPr id="1644935165" name="TextBox 28"/>
          <p:cNvSpPr txBox="1"/>
          <p:nvPr/>
        </p:nvSpPr>
        <p:spPr bwMode="auto">
          <a:xfrm rot="0">
            <a:off x="1414462" y="3090746"/>
            <a:ext cx="2574579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lang="en-US" sz="2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Solution Concept</a:t>
            </a:r>
            <a:endParaRPr/>
          </a:p>
        </p:txBody>
      </p:sp>
      <p:sp>
        <p:nvSpPr>
          <p:cNvPr id="1813603463" name="TextBox 29"/>
          <p:cNvSpPr txBox="1"/>
          <p:nvPr/>
        </p:nvSpPr>
        <p:spPr bwMode="auto">
          <a:xfrm rot="0">
            <a:off x="1014412" y="3443171"/>
            <a:ext cx="7543800" cy="814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29"/>
              </a:lnSpc>
              <a:defRPr/>
            </a:pPr>
            <a:r>
              <a:rPr lang="en-US" sz="1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A 4-Lane Discrete-Tick Cascade Simulator deployed with PostgreSQL, Python Engine, and React Frontend.</a:t>
            </a:r>
            <a:endParaRPr/>
          </a:p>
        </p:txBody>
      </p:sp>
      <p:sp>
        <p:nvSpPr>
          <p:cNvPr id="1219580917" name="Freeform 30"/>
          <p:cNvSpPr/>
          <p:nvPr/>
        </p:nvSpPr>
        <p:spPr bwMode="auto">
          <a:xfrm rot="0" flipH="0" flipV="0">
            <a:off x="2866749" y="4571512"/>
            <a:ext cx="11143365" cy="5488625"/>
          </a:xfrm>
          <a:custGeom>
            <a:avLst/>
            <a:gdLst/>
            <a:ahLst/>
            <a:cxnLst/>
            <a:rect l="l" t="t" r="r" b="b"/>
            <a:pathLst>
              <a:path w="11143365" h="5488625" fill="norm" stroke="1" extrusionOk="0">
                <a:moveTo>
                  <a:pt x="0" y="0"/>
                </a:moveTo>
                <a:lnTo>
                  <a:pt x="11143365" y="0"/>
                </a:lnTo>
                <a:lnTo>
                  <a:pt x="11143365" y="5488625"/>
                </a:lnTo>
                <a:lnTo>
                  <a:pt x="0" y="5488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/>
            <a:stretch>
              <a:fillRect l="0" t="-5083" r="0" b="-5082"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06127258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784087598" name="Group 4"/>
          <p:cNvGrpSpPr/>
          <p:nvPr/>
        </p:nvGrpSpPr>
        <p:grpSpPr bwMode="auto">
          <a:xfrm rot="0">
            <a:off x="800100" y="3771900"/>
            <a:ext cx="8347977" cy="4641009"/>
            <a:chOff x="0" y="0"/>
            <a:chExt cx="11130636" cy="6188012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11130661" cy="6188075"/>
            </a:xfrm>
            <a:custGeom>
              <a:avLst/>
              <a:gdLst/>
              <a:ahLst/>
              <a:cxnLst/>
              <a:rect l="l" t="t" r="r" b="b"/>
              <a:pathLst>
                <a:path w="11130661" h="6188075" fill="norm" stroke="1" extrusionOk="0">
                  <a:moveTo>
                    <a:pt x="0" y="0"/>
                  </a:moveTo>
                  <a:lnTo>
                    <a:pt x="11130661" y="0"/>
                  </a:lnTo>
                  <a:lnTo>
                    <a:pt x="11130661" y="6188075"/>
                  </a:lnTo>
                  <a:lnTo>
                    <a:pt x="0" y="618807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id="1912647651" name="Group 6"/>
          <p:cNvGrpSpPr/>
          <p:nvPr/>
        </p:nvGrpSpPr>
        <p:grpSpPr bwMode="auto">
          <a:xfrm rot="0">
            <a:off x="9498340" y="3771900"/>
            <a:ext cx="8347977" cy="3042511"/>
            <a:chOff x="0" y="0"/>
            <a:chExt cx="11130636" cy="4056682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11130661" cy="4056745"/>
            </a:xfrm>
            <a:custGeom>
              <a:avLst/>
              <a:gdLst/>
              <a:ahLst/>
              <a:cxnLst/>
              <a:rect l="l" t="t" r="r" b="b"/>
              <a:pathLst>
                <a:path w="11130661" h="4056745" fill="norm" stroke="1" extrusionOk="0">
                  <a:moveTo>
                    <a:pt x="0" y="0"/>
                  </a:moveTo>
                  <a:lnTo>
                    <a:pt x="11130661" y="0"/>
                  </a:lnTo>
                  <a:lnTo>
                    <a:pt x="11130661" y="4056745"/>
                  </a:lnTo>
                  <a:lnTo>
                    <a:pt x="0" y="40567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-26269" r="0" b="-26266"/>
              </a:stretch>
            </a:blipFill>
          </p:spPr>
        </p:sp>
      </p:grpSp>
      <p:sp>
        <p:nvSpPr>
          <p:cNvPr id="403551818" name="TextBox 8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848302688" name="TextBox 9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sp>
        <p:nvSpPr>
          <p:cNvPr id="425078149" name="TextBox 10"/>
          <p:cNvSpPr txBox="1"/>
          <p:nvPr/>
        </p:nvSpPr>
        <p:spPr bwMode="auto">
          <a:xfrm rot="0">
            <a:off x="1573606" y="4098655"/>
            <a:ext cx="3914568" cy="43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  <a:defRPr/>
            </a:pPr>
            <a:r>
              <a:rPr lang="en-US" sz="280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Technical Components</a:t>
            </a:r>
            <a:endParaRPr/>
          </a:p>
        </p:txBody>
      </p:sp>
      <p:sp>
        <p:nvSpPr>
          <p:cNvPr id="648765858" name="TextBox 11"/>
          <p:cNvSpPr txBox="1"/>
          <p:nvPr/>
        </p:nvSpPr>
        <p:spPr bwMode="auto">
          <a:xfrm rot="0">
            <a:off x="10271846" y="4098655"/>
            <a:ext cx="3539366" cy="43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  <a:defRPr/>
            </a:pPr>
            <a:r>
              <a:rPr lang="en-US" sz="280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Security &amp; Data Flow</a:t>
            </a:r>
            <a:endParaRPr/>
          </a:p>
        </p:txBody>
      </p:sp>
      <p:grpSp>
        <p:nvGrpSpPr>
          <p:cNvPr id="1785556055" name="Group 12"/>
          <p:cNvGrpSpPr/>
          <p:nvPr/>
        </p:nvGrpSpPr>
        <p:grpSpPr bwMode="auto">
          <a:xfrm rot="0">
            <a:off x="1164955" y="4180542"/>
            <a:ext cx="335671" cy="291884"/>
            <a:chOff x="0" y="0"/>
            <a:chExt cx="447561" cy="389179"/>
          </a:xfrm>
        </p:grpSpPr>
        <p:sp>
          <p:nvSpPr>
            <p:cNvPr id="13" name="Freeform 13" descr="image.png"/>
            <p:cNvSpPr/>
            <p:nvPr/>
          </p:nvSpPr>
          <p:spPr bwMode="auto">
            <a:xfrm rot="0" flipH="0" flipV="0">
              <a:off x="0" y="0"/>
              <a:ext cx="447548" cy="389128"/>
            </a:xfrm>
            <a:custGeom>
              <a:avLst/>
              <a:gdLst/>
              <a:ahLst/>
              <a:cxnLst/>
              <a:rect l="l" t="t" r="r" b="b"/>
              <a:pathLst>
                <a:path w="447548" h="389128" fill="norm" stroke="1" extrusionOk="0">
                  <a:moveTo>
                    <a:pt x="0" y="0"/>
                  </a:moveTo>
                  <a:lnTo>
                    <a:pt x="447548" y="0"/>
                  </a:lnTo>
                  <a:lnTo>
                    <a:pt x="447548" y="389128"/>
                  </a:lnTo>
                  <a:lnTo>
                    <a:pt x="0" y="38912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0" t="0" r="-1" b="-13"/>
              </a:stretch>
            </a:blipFill>
          </p:spPr>
        </p:sp>
      </p:grpSp>
      <p:sp>
        <p:nvSpPr>
          <p:cNvPr id="1994529644" name="TextBox 14"/>
          <p:cNvSpPr txBox="1"/>
          <p:nvPr/>
        </p:nvSpPr>
        <p:spPr bwMode="auto">
          <a:xfrm rot="0">
            <a:off x="1573606" y="4530033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Storage Layer: PostgreSQL with psycopg2, maintaining scenarios, nodes, edges, and recovery actions.</a:t>
            </a:r>
            <a:endParaRPr/>
          </a:p>
        </p:txBody>
      </p:sp>
      <p:sp>
        <p:nvSpPr>
          <p:cNvPr id="1045067873" name="TextBox 15"/>
          <p:cNvSpPr txBox="1"/>
          <p:nvPr/>
        </p:nvSpPr>
        <p:spPr bwMode="auto">
          <a:xfrm rot="0">
            <a:off x="1573606" y="5361908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Simulation Engine: Evaluates impact = Σ(edge.weight × (1 - upstream.capacity)). Fails if impact &gt; threshold.</a:t>
            </a:r>
            <a:endParaRPr/>
          </a:p>
        </p:txBody>
      </p:sp>
      <p:sp>
        <p:nvSpPr>
          <p:cNvPr id="235696025" name="TextBox 16"/>
          <p:cNvSpPr txBox="1"/>
          <p:nvPr/>
        </p:nvSpPr>
        <p:spPr bwMode="auto">
          <a:xfrm rot="0">
            <a:off x="1573606" y="6193793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Cross-Lane Contract: Lane 2 passes immutable SimulationResult (TickSnapshots + StateChangeEvents) to Lane 4.</a:t>
            </a:r>
            <a:endParaRPr/>
          </a:p>
        </p:txBody>
      </p:sp>
      <p:sp>
        <p:nvSpPr>
          <p:cNvPr id="1786516398" name="TextBox 17"/>
          <p:cNvSpPr txBox="1"/>
          <p:nvPr/>
        </p:nvSpPr>
        <p:spPr bwMode="auto">
          <a:xfrm rot="0">
            <a:off x="1573606" y="7025669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Analytics: Lane 4 calculates recovery_time, affected_services, and peak_impact for the Lovable React frontend.</a:t>
            </a:r>
            <a:endParaRPr/>
          </a:p>
        </p:txBody>
      </p:sp>
      <p:grpSp>
        <p:nvGrpSpPr>
          <p:cNvPr id="460767674" name="Group 18"/>
          <p:cNvGrpSpPr/>
          <p:nvPr/>
        </p:nvGrpSpPr>
        <p:grpSpPr bwMode="auto">
          <a:xfrm rot="0">
            <a:off x="9863204" y="4180542"/>
            <a:ext cx="291884" cy="291884"/>
            <a:chOff x="0" y="0"/>
            <a:chExt cx="389179" cy="389179"/>
          </a:xfrm>
        </p:grpSpPr>
        <p:sp>
          <p:nvSpPr>
            <p:cNvPr id="19" name="Freeform 19" descr="image.png"/>
            <p:cNvSpPr/>
            <p:nvPr/>
          </p:nvSpPr>
          <p:spPr bwMode="auto">
            <a:xfrm rot="0" flipH="0" flipV="0">
              <a:off x="0" y="0"/>
              <a:ext cx="389128" cy="389128"/>
            </a:xfrm>
            <a:custGeom>
              <a:avLst/>
              <a:gdLst/>
              <a:ahLst/>
              <a:cxnLst/>
              <a:rect l="l" t="t" r="r" b="b"/>
              <a:pathLst>
                <a:path w="389128" h="389128" fill="norm" stroke="1" extrusionOk="0">
                  <a:moveTo>
                    <a:pt x="0" y="0"/>
                  </a:moveTo>
                  <a:lnTo>
                    <a:pt x="389128" y="0"/>
                  </a:lnTo>
                  <a:lnTo>
                    <a:pt x="389128" y="389128"/>
                  </a:lnTo>
                  <a:lnTo>
                    <a:pt x="0" y="38912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0" r="-13" b="-13"/>
              </a:stretch>
            </a:blipFill>
          </p:spPr>
        </p:sp>
      </p:grpSp>
      <p:sp>
        <p:nvSpPr>
          <p:cNvPr id="2121583904" name="TextBox 20"/>
          <p:cNvSpPr txBox="1"/>
          <p:nvPr/>
        </p:nvSpPr>
        <p:spPr bwMode="auto">
          <a:xfrm rot="0">
            <a:off x="10271846" y="4530033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Settlement Detection: The engine halts exactly when a tick produces no state changes and no pending recoveries remain.</a:t>
            </a:r>
            <a:endParaRPr/>
          </a:p>
        </p:txBody>
      </p:sp>
      <p:sp>
        <p:nvSpPr>
          <p:cNvPr id="296177489" name="TextBox 21"/>
          <p:cNvSpPr txBox="1"/>
          <p:nvPr/>
        </p:nvSpPr>
        <p:spPr bwMode="auto">
          <a:xfrm rot="0">
            <a:off x="10271846" y="5361908"/>
            <a:ext cx="7209615" cy="853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2"/>
              </a:lnSpc>
              <a:defRPr/>
            </a:pPr>
            <a:r>
              <a:rPr lang="en-US" sz="21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Robust Testing: 27/27 automated unit tests covering hand-traced multi-hop cascades and cross-lane validation.</a:t>
            </a:r>
            <a:endParaRPr/>
          </a:p>
        </p:txBody>
      </p:sp>
      <p:sp>
        <p:nvSpPr>
          <p:cNvPr id="137577344" name="TextBox 22"/>
          <p:cNvSpPr txBox="1"/>
          <p:nvPr/>
        </p:nvSpPr>
        <p:spPr bwMode="auto">
          <a:xfrm rot="0">
            <a:off x="800100" y="2066925"/>
            <a:ext cx="5218356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69"/>
              </a:lnSpc>
              <a:defRPr/>
            </a:pPr>
            <a:r>
              <a:rPr lang="en-US" sz="42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System Architecture</a:t>
            </a:r>
            <a:endParaRPr/>
          </a:p>
        </p:txBody>
      </p:sp>
      <p:grpSp>
        <p:nvGrpSpPr>
          <p:cNvPr id="1488677055" name="Group 23"/>
          <p:cNvGrpSpPr/>
          <p:nvPr/>
        </p:nvGrpSpPr>
        <p:grpSpPr bwMode="auto">
          <a:xfrm rot="0">
            <a:off x="1164955" y="4749727"/>
            <a:ext cx="116757" cy="189728"/>
            <a:chOff x="0" y="0"/>
            <a:chExt cx="155677" cy="252971"/>
          </a:xfrm>
        </p:grpSpPr>
        <p:sp>
          <p:nvSpPr>
            <p:cNvPr id="24" name="Freeform 24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  <p:grpSp>
        <p:nvGrpSpPr>
          <p:cNvPr id="1251987074" name="Group 25"/>
          <p:cNvGrpSpPr/>
          <p:nvPr/>
        </p:nvGrpSpPr>
        <p:grpSpPr bwMode="auto">
          <a:xfrm rot="0">
            <a:off x="1164955" y="5581602"/>
            <a:ext cx="116757" cy="189728"/>
            <a:chOff x="0" y="0"/>
            <a:chExt cx="155677" cy="252971"/>
          </a:xfrm>
        </p:grpSpPr>
        <p:sp>
          <p:nvSpPr>
            <p:cNvPr id="26" name="Freeform 26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  <p:grpSp>
        <p:nvGrpSpPr>
          <p:cNvPr id="2092395590" name="Group 27"/>
          <p:cNvGrpSpPr/>
          <p:nvPr/>
        </p:nvGrpSpPr>
        <p:grpSpPr bwMode="auto">
          <a:xfrm rot="0">
            <a:off x="1164955" y="6413478"/>
            <a:ext cx="116757" cy="189728"/>
            <a:chOff x="0" y="0"/>
            <a:chExt cx="155677" cy="252971"/>
          </a:xfrm>
        </p:grpSpPr>
        <p:sp>
          <p:nvSpPr>
            <p:cNvPr id="28" name="Freeform 28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  <p:grpSp>
        <p:nvGrpSpPr>
          <p:cNvPr id="361051717" name="Group 29"/>
          <p:cNvGrpSpPr/>
          <p:nvPr/>
        </p:nvGrpSpPr>
        <p:grpSpPr bwMode="auto">
          <a:xfrm rot="0">
            <a:off x="1164955" y="7245363"/>
            <a:ext cx="116757" cy="189728"/>
            <a:chOff x="0" y="0"/>
            <a:chExt cx="155677" cy="252971"/>
          </a:xfrm>
        </p:grpSpPr>
        <p:sp>
          <p:nvSpPr>
            <p:cNvPr id="30" name="Freeform 30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  <p:grpSp>
        <p:nvGrpSpPr>
          <p:cNvPr id="1146772812" name="Group 31"/>
          <p:cNvGrpSpPr/>
          <p:nvPr/>
        </p:nvGrpSpPr>
        <p:grpSpPr bwMode="auto">
          <a:xfrm rot="0">
            <a:off x="9863204" y="4749727"/>
            <a:ext cx="116757" cy="189728"/>
            <a:chOff x="0" y="0"/>
            <a:chExt cx="155677" cy="252971"/>
          </a:xfrm>
        </p:grpSpPr>
        <p:sp>
          <p:nvSpPr>
            <p:cNvPr id="32" name="Freeform 32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  <p:grpSp>
        <p:nvGrpSpPr>
          <p:cNvPr id="1295393793" name="Group 33"/>
          <p:cNvGrpSpPr/>
          <p:nvPr/>
        </p:nvGrpSpPr>
        <p:grpSpPr bwMode="auto">
          <a:xfrm rot="0">
            <a:off x="9863204" y="5581602"/>
            <a:ext cx="116757" cy="189728"/>
            <a:chOff x="0" y="0"/>
            <a:chExt cx="155677" cy="252971"/>
          </a:xfrm>
        </p:grpSpPr>
        <p:sp>
          <p:nvSpPr>
            <p:cNvPr id="34" name="Freeform 34" descr="image.png"/>
            <p:cNvSpPr/>
            <p:nvPr/>
          </p:nvSpPr>
          <p:spPr bwMode="auto">
            <a:xfrm rot="0" flipH="0" flipV="0">
              <a:off x="0" y="0"/>
              <a:ext cx="155702" cy="252984"/>
            </a:xfrm>
            <a:custGeom>
              <a:avLst/>
              <a:gdLst/>
              <a:ahLst/>
              <a:cxnLst/>
              <a:rect l="l" t="t" r="r" b="b"/>
              <a:pathLst>
                <a:path w="155702" h="252984" fill="norm" stroke="1" extrusionOk="0">
                  <a:moveTo>
                    <a:pt x="0" y="0"/>
                  </a:moveTo>
                  <a:lnTo>
                    <a:pt x="155702" y="0"/>
                  </a:lnTo>
                  <a:lnTo>
                    <a:pt x="155702" y="252984"/>
                  </a:lnTo>
                  <a:lnTo>
                    <a:pt x="0" y="25298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16" b="4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3286004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875933007" name="Group 4"/>
          <p:cNvGrpSpPr/>
          <p:nvPr/>
        </p:nvGrpSpPr>
        <p:grpSpPr bwMode="auto">
          <a:xfrm rot="0">
            <a:off x="800100" y="3818334"/>
            <a:ext cx="5372100" cy="1857375"/>
            <a:chOff x="0" y="0"/>
            <a:chExt cx="7162800" cy="2476500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7162800" cy="2476500"/>
            </a:xfrm>
            <a:custGeom>
              <a:avLst/>
              <a:gdLst/>
              <a:ahLst/>
              <a:cxnLst/>
              <a:rect l="l" t="t" r="r" b="b"/>
              <a:pathLst>
                <a:path w="7162800" h="2476500" fill="norm" stroke="1" extrusionOk="0">
                  <a:moveTo>
                    <a:pt x="0" y="0"/>
                  </a:moveTo>
                  <a:lnTo>
                    <a:pt x="7162800" y="0"/>
                  </a:lnTo>
                  <a:lnTo>
                    <a:pt x="71628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384" r="0" b="-384"/>
              </a:stretch>
            </a:blipFill>
          </p:spPr>
        </p:sp>
      </p:grpSp>
      <p:grpSp>
        <p:nvGrpSpPr>
          <p:cNvPr id="618771675" name="Group 6"/>
          <p:cNvGrpSpPr/>
          <p:nvPr/>
        </p:nvGrpSpPr>
        <p:grpSpPr bwMode="auto">
          <a:xfrm rot="0">
            <a:off x="6457950" y="3818334"/>
            <a:ext cx="5372100" cy="1857375"/>
            <a:chOff x="0" y="0"/>
            <a:chExt cx="7162800" cy="2476500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7162800" cy="2476500"/>
            </a:xfrm>
            <a:custGeom>
              <a:avLst/>
              <a:gdLst/>
              <a:ahLst/>
              <a:cxnLst/>
              <a:rect l="l" t="t" r="r" b="b"/>
              <a:pathLst>
                <a:path w="7162800" h="2476500" fill="norm" stroke="1" extrusionOk="0">
                  <a:moveTo>
                    <a:pt x="0" y="0"/>
                  </a:moveTo>
                  <a:lnTo>
                    <a:pt x="7162800" y="0"/>
                  </a:lnTo>
                  <a:lnTo>
                    <a:pt x="71628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384" r="0" b="-384"/>
              </a:stretch>
            </a:blipFill>
          </p:spPr>
        </p:sp>
      </p:grpSp>
      <p:grpSp>
        <p:nvGrpSpPr>
          <p:cNvPr id="438638681" name="Group 8"/>
          <p:cNvGrpSpPr/>
          <p:nvPr/>
        </p:nvGrpSpPr>
        <p:grpSpPr bwMode="auto">
          <a:xfrm rot="0">
            <a:off x="12115800" y="3818334"/>
            <a:ext cx="5372100" cy="1857375"/>
            <a:chOff x="0" y="0"/>
            <a:chExt cx="7162800" cy="2476500"/>
          </a:xfrm>
        </p:grpSpPr>
        <p:sp>
          <p:nvSpPr>
            <p:cNvPr id="9" name="Freeform 9" descr="image.png"/>
            <p:cNvSpPr/>
            <p:nvPr/>
          </p:nvSpPr>
          <p:spPr bwMode="auto">
            <a:xfrm rot="0" flipH="0" flipV="0">
              <a:off x="0" y="0"/>
              <a:ext cx="7162800" cy="2476500"/>
            </a:xfrm>
            <a:custGeom>
              <a:avLst/>
              <a:gdLst/>
              <a:ahLst/>
              <a:cxnLst/>
              <a:rect l="l" t="t" r="r" b="b"/>
              <a:pathLst>
                <a:path w="7162800" h="2476500" fill="norm" stroke="1" extrusionOk="0">
                  <a:moveTo>
                    <a:pt x="0" y="0"/>
                  </a:moveTo>
                  <a:lnTo>
                    <a:pt x="7162800" y="0"/>
                  </a:lnTo>
                  <a:lnTo>
                    <a:pt x="71628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384" r="0" b="-384"/>
              </a:stretch>
            </a:blipFill>
          </p:spPr>
        </p:sp>
      </p:grpSp>
      <p:grpSp>
        <p:nvGrpSpPr>
          <p:cNvPr id="1356318903" name="Group 10"/>
          <p:cNvGrpSpPr/>
          <p:nvPr/>
        </p:nvGrpSpPr>
        <p:grpSpPr bwMode="auto">
          <a:xfrm rot="0">
            <a:off x="800100" y="5961459"/>
            <a:ext cx="8172450" cy="3296841"/>
            <a:chOff x="0" y="0"/>
            <a:chExt cx="10896600" cy="4395788"/>
          </a:xfrm>
        </p:grpSpPr>
        <p:sp>
          <p:nvSpPr>
            <p:cNvPr id="11" name="Freeform 11" descr="image.png"/>
            <p:cNvSpPr/>
            <p:nvPr/>
          </p:nvSpPr>
          <p:spPr bwMode="auto">
            <a:xfrm rot="0" flipH="0" flipV="0">
              <a:off x="0" y="0"/>
              <a:ext cx="10896600" cy="4395788"/>
            </a:xfrm>
            <a:custGeom>
              <a:avLst/>
              <a:gdLst/>
              <a:ahLst/>
              <a:cxnLst/>
              <a:rect l="l" t="t" r="r" b="b"/>
              <a:pathLst>
                <a:path w="10896600" h="4395788" fill="norm" stroke="1" extrusionOk="0">
                  <a:moveTo>
                    <a:pt x="0" y="0"/>
                  </a:moveTo>
                  <a:lnTo>
                    <a:pt x="10896600" y="0"/>
                  </a:lnTo>
                  <a:lnTo>
                    <a:pt x="10896600" y="4395788"/>
                  </a:lnTo>
                  <a:lnTo>
                    <a:pt x="0" y="439578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-21219" t="0" r="-21218" b="0"/>
              </a:stretch>
            </a:blipFill>
          </p:spPr>
        </p:sp>
      </p:grpSp>
      <p:grpSp>
        <p:nvGrpSpPr>
          <p:cNvPr id="932458808" name="Group 12"/>
          <p:cNvGrpSpPr/>
          <p:nvPr/>
        </p:nvGrpSpPr>
        <p:grpSpPr bwMode="auto">
          <a:xfrm rot="0">
            <a:off x="9315450" y="5961459"/>
            <a:ext cx="8172450" cy="3296841"/>
            <a:chOff x="0" y="0"/>
            <a:chExt cx="10896600" cy="4395788"/>
          </a:xfrm>
        </p:grpSpPr>
        <p:sp>
          <p:nvSpPr>
            <p:cNvPr id="13" name="Freeform 13" descr="image.png"/>
            <p:cNvSpPr/>
            <p:nvPr/>
          </p:nvSpPr>
          <p:spPr bwMode="auto">
            <a:xfrm rot="0" flipH="0" flipV="0">
              <a:off x="0" y="0"/>
              <a:ext cx="10896600" cy="4395788"/>
            </a:xfrm>
            <a:custGeom>
              <a:avLst/>
              <a:gdLst/>
              <a:ahLst/>
              <a:cxnLst/>
              <a:rect l="l" t="t" r="r" b="b"/>
              <a:pathLst>
                <a:path w="10896600" h="4395788" fill="norm" stroke="1" extrusionOk="0">
                  <a:moveTo>
                    <a:pt x="0" y="0"/>
                  </a:moveTo>
                  <a:lnTo>
                    <a:pt x="10896600" y="0"/>
                  </a:lnTo>
                  <a:lnTo>
                    <a:pt x="10896600" y="4395788"/>
                  </a:lnTo>
                  <a:lnTo>
                    <a:pt x="0" y="439578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-21219" t="0" r="-21218" b="0"/>
              </a:stretch>
            </a:blipFill>
          </p:spPr>
        </p:sp>
      </p:grpSp>
      <p:sp>
        <p:nvSpPr>
          <p:cNvPr id="704794278" name="TextBox 14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1878706959" name="TextBox 15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sp>
        <p:nvSpPr>
          <p:cNvPr id="853138778" name="TextBox 16"/>
          <p:cNvSpPr txBox="1"/>
          <p:nvPr/>
        </p:nvSpPr>
        <p:spPr bwMode="auto">
          <a:xfrm rot="0">
            <a:off x="1157288" y="3851672"/>
            <a:ext cx="4657725" cy="83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27/27</a:t>
            </a:r>
            <a:endParaRPr/>
          </a:p>
        </p:txBody>
      </p:sp>
      <p:sp>
        <p:nvSpPr>
          <p:cNvPr id="1699358892" name="TextBox 17"/>
          <p:cNvSpPr txBox="1"/>
          <p:nvPr/>
        </p:nvSpPr>
        <p:spPr bwMode="auto">
          <a:xfrm rot="0">
            <a:off x="1393601" y="5023247"/>
            <a:ext cx="4185099" cy="453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AUTOMATED TESTS PASSING</a:t>
            </a:r>
            <a:endParaRPr/>
          </a:p>
        </p:txBody>
      </p:sp>
      <p:sp>
        <p:nvSpPr>
          <p:cNvPr id="418231437" name="TextBox 18"/>
          <p:cNvSpPr txBox="1"/>
          <p:nvPr/>
        </p:nvSpPr>
        <p:spPr bwMode="auto">
          <a:xfrm rot="0">
            <a:off x="6815138" y="3851672"/>
            <a:ext cx="4657725" cy="83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100%</a:t>
            </a:r>
            <a:endParaRPr/>
          </a:p>
        </p:txBody>
      </p:sp>
      <p:sp>
        <p:nvSpPr>
          <p:cNvPr id="1687151856" name="TextBox 19"/>
          <p:cNvSpPr txBox="1"/>
          <p:nvPr/>
        </p:nvSpPr>
        <p:spPr bwMode="auto">
          <a:xfrm rot="0">
            <a:off x="7186095" y="5023247"/>
            <a:ext cx="3915810" cy="453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DETERMINISTIC ACCURACY</a:t>
            </a:r>
            <a:endParaRPr/>
          </a:p>
        </p:txBody>
      </p:sp>
      <p:sp>
        <p:nvSpPr>
          <p:cNvPr id="1880829058" name="TextBox 20"/>
          <p:cNvSpPr txBox="1"/>
          <p:nvPr/>
        </p:nvSpPr>
        <p:spPr bwMode="auto">
          <a:xfrm rot="0">
            <a:off x="12472988" y="3851672"/>
            <a:ext cx="4657725" cy="83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4</a:t>
            </a:r>
            <a:endParaRPr/>
          </a:p>
        </p:txBody>
      </p:sp>
      <p:sp>
        <p:nvSpPr>
          <p:cNvPr id="118595894" name="TextBox 21"/>
          <p:cNvSpPr txBox="1"/>
          <p:nvPr/>
        </p:nvSpPr>
        <p:spPr bwMode="auto">
          <a:xfrm rot="0">
            <a:off x="12453989" y="5023247"/>
            <a:ext cx="4695722" cy="453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ISOLATED ARCHITECTURE LANES</a:t>
            </a:r>
            <a:endParaRPr/>
          </a:p>
        </p:txBody>
      </p:sp>
      <p:sp>
        <p:nvSpPr>
          <p:cNvPr id="793557087" name="TextBox 22"/>
          <p:cNvSpPr txBox="1"/>
          <p:nvPr/>
        </p:nvSpPr>
        <p:spPr bwMode="auto">
          <a:xfrm rot="0">
            <a:off x="1773317" y="6290072"/>
            <a:ext cx="3333647" cy="542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9"/>
              </a:lnSpc>
              <a:defRPr/>
            </a:pPr>
            <a:r>
              <a:rPr lang="en-US" sz="3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Core Innovation</a:t>
            </a:r>
            <a:endParaRPr/>
          </a:p>
        </p:txBody>
      </p:sp>
      <p:sp>
        <p:nvSpPr>
          <p:cNvPr id="26015495" name="TextBox 23"/>
          <p:cNvSpPr txBox="1"/>
          <p:nvPr/>
        </p:nvSpPr>
        <p:spPr bwMode="auto">
          <a:xfrm rot="0">
            <a:off x="1157288" y="6585347"/>
            <a:ext cx="7458075" cy="2248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2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What is genuinely different? Our architecture strictly isolates the database (Lane 1) from the simulation logic (Lane 2), communicating solely through frozen data contracts.</a:t>
            </a:r>
            <a:endParaRPr/>
          </a:p>
        </p:txBody>
      </p:sp>
      <p:sp>
        <p:nvSpPr>
          <p:cNvPr id="1041225434" name="TextBox 24"/>
          <p:cNvSpPr txBox="1"/>
          <p:nvPr/>
        </p:nvSpPr>
        <p:spPr bwMode="auto">
          <a:xfrm rot="0">
            <a:off x="10244137" y="6290072"/>
            <a:ext cx="3577466" cy="542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9"/>
              </a:lnSpc>
              <a:defRPr/>
            </a:pPr>
            <a:r>
              <a:rPr lang="en-US" sz="3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Technical Insight</a:t>
            </a:r>
            <a:endParaRPr/>
          </a:p>
        </p:txBody>
      </p:sp>
      <p:sp>
        <p:nvSpPr>
          <p:cNvPr id="130677363" name="TextBox 25"/>
          <p:cNvSpPr txBox="1"/>
          <p:nvPr/>
        </p:nvSpPr>
        <p:spPr bwMode="auto">
          <a:xfrm rot="0">
            <a:off x="9672637" y="6585347"/>
            <a:ext cx="7458075" cy="2248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2"/>
              </a:lnSpc>
              <a:defRPr/>
            </a:pPr>
            <a:r>
              <a:rPr lang="en-US" sz="28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By utilizing a discrete-tick engine with pre-tick capacity freezing, the simulation guarantees order-independent propagation and reproducible cascade timelines.</a:t>
            </a:r>
            <a:endParaRPr/>
          </a:p>
        </p:txBody>
      </p:sp>
      <p:grpSp>
        <p:nvGrpSpPr>
          <p:cNvPr id="1244246611" name="Group 26"/>
          <p:cNvGrpSpPr/>
          <p:nvPr/>
        </p:nvGrpSpPr>
        <p:grpSpPr bwMode="auto">
          <a:xfrm rot="0">
            <a:off x="1157288" y="6361509"/>
            <a:ext cx="328612" cy="285750"/>
            <a:chOff x="0" y="0"/>
            <a:chExt cx="438149" cy="381000"/>
          </a:xfrm>
        </p:grpSpPr>
        <p:sp>
          <p:nvSpPr>
            <p:cNvPr id="27" name="Freeform 27" descr="image.png"/>
            <p:cNvSpPr/>
            <p:nvPr/>
          </p:nvSpPr>
          <p:spPr bwMode="auto">
            <a:xfrm rot="0" flipH="0" flipV="0">
              <a:off x="0" y="0"/>
              <a:ext cx="438149" cy="381000"/>
            </a:xfrm>
            <a:custGeom>
              <a:avLst/>
              <a:gdLst/>
              <a:ahLst/>
              <a:cxnLst/>
              <a:rect l="l" t="t" r="r" b="b"/>
              <a:pathLst>
                <a:path w="438150" h="381000" fill="norm" stroke="1" extrusionOk="0">
                  <a:moveTo>
                    <a:pt x="0" y="0"/>
                  </a:moveTo>
                  <a:lnTo>
                    <a:pt x="438150" y="0"/>
                  </a:lnTo>
                  <a:lnTo>
                    <a:pt x="43815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-2500" r="0" b="-2500"/>
              </a:stretch>
            </a:blipFill>
          </p:spPr>
        </p:sp>
      </p:grpSp>
      <p:grpSp>
        <p:nvGrpSpPr>
          <p:cNvPr id="1172258424" name="Group 28"/>
          <p:cNvGrpSpPr/>
          <p:nvPr/>
        </p:nvGrpSpPr>
        <p:grpSpPr bwMode="auto">
          <a:xfrm rot="0">
            <a:off x="9672637" y="6361509"/>
            <a:ext cx="285750" cy="285750"/>
            <a:chOff x="0" y="0"/>
            <a:chExt cx="381000" cy="381000"/>
          </a:xfrm>
        </p:grpSpPr>
        <p:sp>
          <p:nvSpPr>
            <p:cNvPr id="29" name="Freeform 29" descr="image.png"/>
            <p:cNvSpPr/>
            <p:nvPr/>
          </p:nvSpPr>
          <p:spPr bwMode="auto">
            <a:xfrm rot="0" flipH="0" flipV="0">
              <a:off x="0" y="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 fill="norm" stroke="1" extrusionOk="0">
                  <a:moveTo>
                    <a:pt x="0" y="0"/>
                  </a:moveTo>
                  <a:lnTo>
                    <a:pt x="381000" y="0"/>
                  </a:lnTo>
                  <a:lnTo>
                    <a:pt x="3810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-2500" r="0" b="-2500"/>
              </a:stretch>
            </a:blipFill>
          </p:spPr>
        </p:sp>
      </p:grpSp>
      <p:sp>
        <p:nvSpPr>
          <p:cNvPr id="2010665188" name="TextBox 30"/>
          <p:cNvSpPr txBox="1"/>
          <p:nvPr/>
        </p:nvSpPr>
        <p:spPr bwMode="auto">
          <a:xfrm rot="0">
            <a:off x="772716" y="2018109"/>
            <a:ext cx="4883944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8"/>
              </a:lnSpc>
              <a:defRPr/>
            </a:pPr>
            <a:r>
              <a:rPr lang="en-US" sz="40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Innovation &amp; Impact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1823441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1116530862" name="Group 4"/>
          <p:cNvGrpSpPr/>
          <p:nvPr/>
        </p:nvGrpSpPr>
        <p:grpSpPr bwMode="auto">
          <a:xfrm rot="0">
            <a:off x="800100" y="3114675"/>
            <a:ext cx="8201025" cy="2786062"/>
            <a:chOff x="0" y="0"/>
            <a:chExt cx="10934700" cy="3714750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10934700" cy="3714750"/>
            </a:xfrm>
            <a:custGeom>
              <a:avLst/>
              <a:gdLst/>
              <a:ahLst/>
              <a:cxnLst/>
              <a:rect l="l" t="t" r="r" b="b"/>
              <a:pathLst>
                <a:path w="10934700" h="3714750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3714750"/>
                  </a:lnTo>
                  <a:lnTo>
                    <a:pt x="0" y="37147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id="510031574" name="Group 6"/>
          <p:cNvGrpSpPr/>
          <p:nvPr/>
        </p:nvGrpSpPr>
        <p:grpSpPr bwMode="auto">
          <a:xfrm rot="0">
            <a:off x="9286875" y="3114675"/>
            <a:ext cx="8201025" cy="2786062"/>
            <a:chOff x="0" y="0"/>
            <a:chExt cx="10934700" cy="3714750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10934700" cy="3714750"/>
            </a:xfrm>
            <a:custGeom>
              <a:avLst/>
              <a:gdLst/>
              <a:ahLst/>
              <a:cxnLst/>
              <a:rect l="l" t="t" r="r" b="b"/>
              <a:pathLst>
                <a:path w="10934700" h="3714750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3714750"/>
                  </a:lnTo>
                  <a:lnTo>
                    <a:pt x="0" y="37147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id="1775460638" name="Group 8"/>
          <p:cNvGrpSpPr/>
          <p:nvPr/>
        </p:nvGrpSpPr>
        <p:grpSpPr bwMode="auto">
          <a:xfrm rot="0">
            <a:off x="800100" y="6186488"/>
            <a:ext cx="8201025" cy="3430618"/>
            <a:chOff x="0" y="0"/>
            <a:chExt cx="10934700" cy="4574157"/>
          </a:xfrm>
        </p:grpSpPr>
        <p:sp>
          <p:nvSpPr>
            <p:cNvPr id="9" name="Freeform 9" descr="image.png"/>
            <p:cNvSpPr/>
            <p:nvPr/>
          </p:nvSpPr>
          <p:spPr bwMode="auto">
            <a:xfrm rot="0" flipH="0" flipV="0">
              <a:off x="0" y="0"/>
              <a:ext cx="10934700" cy="4574157"/>
            </a:xfrm>
            <a:custGeom>
              <a:avLst/>
              <a:gdLst/>
              <a:ahLst/>
              <a:cxnLst/>
              <a:rect l="l" t="t" r="r" b="b"/>
              <a:pathLst>
                <a:path w="10934700" h="4574157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574157"/>
                  </a:lnTo>
                  <a:lnTo>
                    <a:pt x="0" y="457415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/>
              <a:stretch>
                <a:fillRect l="-11567" t="0" r="-11567" b="0"/>
              </a:stretch>
            </a:blipFill>
          </p:spPr>
        </p:sp>
      </p:grpSp>
      <p:grpSp>
        <p:nvGrpSpPr>
          <p:cNvPr id="1106332950" name="Group 10"/>
          <p:cNvGrpSpPr/>
          <p:nvPr/>
        </p:nvGrpSpPr>
        <p:grpSpPr bwMode="auto">
          <a:xfrm rot="0">
            <a:off x="9286875" y="6186488"/>
            <a:ext cx="8201025" cy="3430618"/>
            <a:chOff x="0" y="0"/>
            <a:chExt cx="10934700" cy="4574157"/>
          </a:xfrm>
        </p:grpSpPr>
        <p:sp>
          <p:nvSpPr>
            <p:cNvPr id="11" name="Freeform 11" descr="image.png"/>
            <p:cNvSpPr/>
            <p:nvPr/>
          </p:nvSpPr>
          <p:spPr bwMode="auto">
            <a:xfrm rot="0" flipH="0" flipV="0">
              <a:off x="0" y="0"/>
              <a:ext cx="10934700" cy="4574157"/>
            </a:xfrm>
            <a:custGeom>
              <a:avLst/>
              <a:gdLst/>
              <a:ahLst/>
              <a:cxnLst/>
              <a:rect l="l" t="t" r="r" b="b"/>
              <a:pathLst>
                <a:path w="10934700" h="4574157" fill="norm" stroke="1" extrusionOk="0">
                  <a:moveTo>
                    <a:pt x="0" y="0"/>
                  </a:moveTo>
                  <a:lnTo>
                    <a:pt x="10934700" y="0"/>
                  </a:lnTo>
                  <a:lnTo>
                    <a:pt x="10934700" y="4574157"/>
                  </a:lnTo>
                  <a:lnTo>
                    <a:pt x="0" y="457415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-11567" t="0" r="-11567" b="0"/>
              </a:stretch>
            </a:blipFill>
          </p:spPr>
        </p:sp>
      </p:grpSp>
      <p:sp>
        <p:nvSpPr>
          <p:cNvPr id="646911377" name="TextBox 12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1788376315" name="TextBox 13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grpSp>
        <p:nvGrpSpPr>
          <p:cNvPr id="602799705" name="Group 14"/>
          <p:cNvGrpSpPr/>
          <p:nvPr/>
        </p:nvGrpSpPr>
        <p:grpSpPr bwMode="auto">
          <a:xfrm rot="0">
            <a:off x="1128712" y="3443288"/>
            <a:ext cx="685800" cy="685800"/>
            <a:chOff x="0" y="0"/>
            <a:chExt cx="914400" cy="914400"/>
          </a:xfrm>
        </p:grpSpPr>
        <p:sp>
          <p:nvSpPr>
            <p:cNvPr id="15" name="Freeform 15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/>
              <a:stretch>
                <a:fillRect l="0" t="0" r="0" b="0"/>
              </a:stretch>
            </a:blipFill>
          </p:spPr>
        </p:sp>
      </p:grpSp>
      <p:sp>
        <p:nvSpPr>
          <p:cNvPr id="1510386324" name="TextBox 16"/>
          <p:cNvSpPr txBox="1"/>
          <p:nvPr/>
        </p:nvSpPr>
        <p:spPr bwMode="auto">
          <a:xfrm rot="0">
            <a:off x="1128712" y="4271962"/>
            <a:ext cx="3701187" cy="47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9"/>
              </a:lnSpc>
              <a:defRPr/>
            </a:pPr>
            <a:r>
              <a:rPr lang="en-US" sz="30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Target Beneficiaries</a:t>
            </a:r>
            <a:endParaRPr/>
          </a:p>
        </p:txBody>
      </p:sp>
      <p:sp>
        <p:nvSpPr>
          <p:cNvPr id="124567411" name="TextBox 17"/>
          <p:cNvSpPr txBox="1"/>
          <p:nvPr/>
        </p:nvSpPr>
        <p:spPr bwMode="auto">
          <a:xfrm rot="0">
            <a:off x="1128712" y="4595812"/>
            <a:ext cx="7543800" cy="981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3"/>
              </a:lnSpc>
              <a:defRPr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Urban resilience planners, disaster response coordinators, and civil infrastructure engineers.</a:t>
            </a:r>
            <a:endParaRPr/>
          </a:p>
        </p:txBody>
      </p:sp>
      <p:grpSp>
        <p:nvGrpSpPr>
          <p:cNvPr id="438341442" name="Group 18"/>
          <p:cNvGrpSpPr/>
          <p:nvPr/>
        </p:nvGrpSpPr>
        <p:grpSpPr bwMode="auto">
          <a:xfrm rot="0">
            <a:off x="9615488" y="3443288"/>
            <a:ext cx="685800" cy="685800"/>
            <a:chOff x="0" y="0"/>
            <a:chExt cx="914400" cy="914400"/>
          </a:xfrm>
        </p:grpSpPr>
        <p:sp>
          <p:nvSpPr>
            <p:cNvPr id="19" name="Freeform 19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0" t="0" r="0" b="0"/>
              </a:stretch>
            </a:blipFill>
          </p:spPr>
        </p:sp>
      </p:grpSp>
      <p:sp>
        <p:nvSpPr>
          <p:cNvPr id="386320128" name="TextBox 20"/>
          <p:cNvSpPr txBox="1"/>
          <p:nvPr/>
        </p:nvSpPr>
        <p:spPr bwMode="auto">
          <a:xfrm rot="0">
            <a:off x="9615488" y="4271962"/>
            <a:ext cx="3872637" cy="47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9"/>
              </a:lnSpc>
              <a:defRPr/>
            </a:pPr>
            <a:r>
              <a:rPr lang="en-US" sz="30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Deployment Strategy</a:t>
            </a:r>
            <a:endParaRPr/>
          </a:p>
        </p:txBody>
      </p:sp>
      <p:sp>
        <p:nvSpPr>
          <p:cNvPr id="888981311" name="TextBox 21"/>
          <p:cNvSpPr txBox="1"/>
          <p:nvPr/>
        </p:nvSpPr>
        <p:spPr bwMode="auto">
          <a:xfrm rot="0">
            <a:off x="9615488" y="4595812"/>
            <a:ext cx="7543800" cy="981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3"/>
              </a:lnSpc>
              <a:defRPr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Deployable as a standard Python/PostgreSQL backend with a modern React visualization dashboard.</a:t>
            </a:r>
            <a:endParaRPr/>
          </a:p>
        </p:txBody>
      </p:sp>
      <p:grpSp>
        <p:nvGrpSpPr>
          <p:cNvPr id="927705762" name="Group 22"/>
          <p:cNvGrpSpPr/>
          <p:nvPr/>
        </p:nvGrpSpPr>
        <p:grpSpPr bwMode="auto">
          <a:xfrm rot="0">
            <a:off x="1128712" y="6515100"/>
            <a:ext cx="685800" cy="685800"/>
            <a:chOff x="0" y="0"/>
            <a:chExt cx="914400" cy="914400"/>
          </a:xfrm>
        </p:grpSpPr>
        <p:sp>
          <p:nvSpPr>
            <p:cNvPr id="23" name="Freeform 23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0" r="0" b="0"/>
              </a:stretch>
            </a:blipFill>
          </p:spPr>
        </p:sp>
      </p:grpSp>
      <p:sp>
        <p:nvSpPr>
          <p:cNvPr id="2065813683" name="TextBox 24"/>
          <p:cNvSpPr txBox="1"/>
          <p:nvPr/>
        </p:nvSpPr>
        <p:spPr bwMode="auto">
          <a:xfrm rot="0">
            <a:off x="1128712" y="7343775"/>
            <a:ext cx="3765481" cy="47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9"/>
              </a:lnSpc>
              <a:defRPr/>
            </a:pPr>
            <a:r>
              <a:rPr lang="en-US" sz="30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Measurable Benefits</a:t>
            </a:r>
            <a:endParaRPr/>
          </a:p>
        </p:txBody>
      </p:sp>
      <p:sp>
        <p:nvSpPr>
          <p:cNvPr id="132945198" name="TextBox 25"/>
          <p:cNvSpPr txBox="1"/>
          <p:nvPr/>
        </p:nvSpPr>
        <p:spPr bwMode="auto">
          <a:xfrm rot="0">
            <a:off x="1128712" y="7667625"/>
            <a:ext cx="7543800" cy="1458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3"/>
              </a:lnSpc>
              <a:defRPr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Enables rapid wargaming of infrastructure vulnerabilities, reducing response times and improving urban resilience against cascading blackouts.</a:t>
            </a:r>
            <a:endParaRPr/>
          </a:p>
        </p:txBody>
      </p:sp>
      <p:grpSp>
        <p:nvGrpSpPr>
          <p:cNvPr id="1146582416" name="Group 26"/>
          <p:cNvGrpSpPr/>
          <p:nvPr/>
        </p:nvGrpSpPr>
        <p:grpSpPr bwMode="auto">
          <a:xfrm rot="0">
            <a:off x="9615488" y="6515100"/>
            <a:ext cx="685800" cy="685800"/>
            <a:chOff x="0" y="0"/>
            <a:chExt cx="914400" cy="914400"/>
          </a:xfrm>
        </p:grpSpPr>
        <p:sp>
          <p:nvSpPr>
            <p:cNvPr id="27" name="Freeform 27" descr="image.png"/>
            <p:cNvSpPr/>
            <p:nvPr/>
          </p:nvSpPr>
          <p:spPr bwMode="auto">
            <a:xfrm rot="0" flipH="0" flipV="0"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 fill="norm" stroke="1" extrusionOk="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0" t="0" r="0" b="0"/>
              </a:stretch>
            </a:blipFill>
          </p:spPr>
        </p:sp>
      </p:grpSp>
      <p:sp>
        <p:nvSpPr>
          <p:cNvPr id="522829731" name="TextBox 28"/>
          <p:cNvSpPr txBox="1"/>
          <p:nvPr/>
        </p:nvSpPr>
        <p:spPr bwMode="auto">
          <a:xfrm rot="0">
            <a:off x="9615488" y="7343775"/>
            <a:ext cx="4796666" cy="476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9"/>
              </a:lnSpc>
              <a:defRPr/>
            </a:pPr>
            <a:r>
              <a:rPr lang="en-US" sz="30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Moving Beyond Prototype</a:t>
            </a:r>
            <a:endParaRPr/>
          </a:p>
        </p:txBody>
      </p:sp>
      <p:sp>
        <p:nvSpPr>
          <p:cNvPr id="1597908694" name="TextBox 29"/>
          <p:cNvSpPr txBox="1"/>
          <p:nvPr/>
        </p:nvSpPr>
        <p:spPr bwMode="auto">
          <a:xfrm rot="0">
            <a:off x="9615488" y="7667625"/>
            <a:ext cx="7543800" cy="1458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3"/>
              </a:lnSpc>
              <a:defRPr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</a:rPr>
              <a:t>Integrating real-time GIS data, expanding to stochastic (probabilistic) failure models, and deploying to cloud infrastructure.</a:t>
            </a:r>
            <a:endParaRPr/>
          </a:p>
        </p:txBody>
      </p:sp>
      <p:grpSp>
        <p:nvGrpSpPr>
          <p:cNvPr id="1599031352" name="Group 30"/>
          <p:cNvGrpSpPr/>
          <p:nvPr/>
        </p:nvGrpSpPr>
        <p:grpSpPr bwMode="auto">
          <a:xfrm rot="0">
            <a:off x="1235869" y="3600450"/>
            <a:ext cx="471488" cy="371475"/>
            <a:chOff x="0" y="0"/>
            <a:chExt cx="628650" cy="495300"/>
          </a:xfrm>
        </p:grpSpPr>
        <p:sp>
          <p:nvSpPr>
            <p:cNvPr id="31" name="Freeform 31" descr="image.png"/>
            <p:cNvSpPr/>
            <p:nvPr/>
          </p:nvSpPr>
          <p:spPr bwMode="auto">
            <a:xfrm rot="0" flipH="0" flipV="0">
              <a:off x="0" y="0"/>
              <a:ext cx="628650" cy="495300"/>
            </a:xfrm>
            <a:custGeom>
              <a:avLst/>
              <a:gdLst/>
              <a:ahLst/>
              <a:cxnLst/>
              <a:rect l="l" t="t" r="r" b="b"/>
              <a:pathLst>
                <a:path w="628650" h="495300" fill="norm" stroke="1" extrusionOk="0">
                  <a:moveTo>
                    <a:pt x="0" y="0"/>
                  </a:moveTo>
                  <a:lnTo>
                    <a:pt x="628650" y="0"/>
                  </a:lnTo>
                  <a:lnTo>
                    <a:pt x="62865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0"/>
              <a:stretch>
                <a:fillRect l="-1515" t="0" r="-1515" b="0"/>
              </a:stretch>
            </a:blipFill>
          </p:spPr>
        </p:sp>
      </p:grpSp>
      <p:grpSp>
        <p:nvGrpSpPr>
          <p:cNvPr id="756168434" name="Group 32"/>
          <p:cNvGrpSpPr/>
          <p:nvPr/>
        </p:nvGrpSpPr>
        <p:grpSpPr bwMode="auto">
          <a:xfrm rot="0">
            <a:off x="9772650" y="3600450"/>
            <a:ext cx="371475" cy="371475"/>
            <a:chOff x="0" y="0"/>
            <a:chExt cx="495300" cy="495300"/>
          </a:xfrm>
        </p:grpSpPr>
        <p:sp>
          <p:nvSpPr>
            <p:cNvPr id="33" name="Freeform 33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id="1624438324" name="Group 34"/>
          <p:cNvGrpSpPr/>
          <p:nvPr/>
        </p:nvGrpSpPr>
        <p:grpSpPr bwMode="auto">
          <a:xfrm rot="0">
            <a:off x="1285875" y="6672262"/>
            <a:ext cx="371475" cy="371475"/>
            <a:chOff x="0" y="0"/>
            <a:chExt cx="495300" cy="495300"/>
          </a:xfrm>
        </p:grpSpPr>
        <p:sp>
          <p:nvSpPr>
            <p:cNvPr id="35" name="Freeform 35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id="824551927" name="Group 36"/>
          <p:cNvGrpSpPr/>
          <p:nvPr/>
        </p:nvGrpSpPr>
        <p:grpSpPr bwMode="auto">
          <a:xfrm rot="0">
            <a:off x="9772650" y="6672262"/>
            <a:ext cx="371475" cy="371475"/>
            <a:chOff x="0" y="0"/>
            <a:chExt cx="495300" cy="495300"/>
          </a:xfrm>
        </p:grpSpPr>
        <p:sp>
          <p:nvSpPr>
            <p:cNvPr id="37" name="Freeform 37" descr="image.png"/>
            <p:cNvSpPr/>
            <p:nvPr/>
          </p:nvSpPr>
          <p:spPr bwMode="auto">
            <a:xfrm rot="0" flipH="0" flipV="0"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 fill="norm" stroke="1" extrusionOk="0">
                  <a:moveTo>
                    <a:pt x="0" y="0"/>
                  </a:moveTo>
                  <a:lnTo>
                    <a:pt x="495300" y="0"/>
                  </a:lnTo>
                  <a:lnTo>
                    <a:pt x="4953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3"/>
              <a:stretch>
                <a:fillRect l="0" t="0" r="0" b="0"/>
              </a:stretch>
            </a:blipFill>
          </p:spPr>
        </p:sp>
      </p:grpSp>
      <p:sp>
        <p:nvSpPr>
          <p:cNvPr id="181281105" name="TextBox 38"/>
          <p:cNvSpPr txBox="1"/>
          <p:nvPr/>
        </p:nvSpPr>
        <p:spPr bwMode="auto">
          <a:xfrm rot="0">
            <a:off x="800100" y="1878806"/>
            <a:ext cx="5906691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8"/>
              </a:lnSpc>
              <a:defRPr/>
            </a:pPr>
            <a:r>
              <a:rPr lang="en-US" sz="40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Deployment &amp; Roadmap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6886711" name="Group 2"/>
          <p:cNvGrpSpPr/>
          <p:nvPr/>
        </p:nvGrpSpPr>
        <p:grpSpPr bwMode="auto"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351984533" name="Group 4"/>
          <p:cNvGrpSpPr/>
          <p:nvPr/>
        </p:nvGrpSpPr>
        <p:grpSpPr bwMode="auto">
          <a:xfrm rot="0">
            <a:off x="532906" y="3595958"/>
            <a:ext cx="16990690" cy="5054351"/>
            <a:chOff x="0" y="0"/>
            <a:chExt cx="22250400" cy="6618998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22250400" cy="6618998"/>
            </a:xfrm>
            <a:custGeom>
              <a:avLst/>
              <a:gdLst/>
              <a:ahLst/>
              <a:cxnLst/>
              <a:rect l="l" t="t" r="r" b="b"/>
              <a:pathLst>
                <a:path w="22250400" h="6618998" fill="norm" stroke="1" extrusionOk="0">
                  <a:moveTo>
                    <a:pt x="0" y="0"/>
                  </a:moveTo>
                  <a:lnTo>
                    <a:pt x="22250400" y="0"/>
                  </a:lnTo>
                  <a:lnTo>
                    <a:pt x="22250400" y="6618998"/>
                  </a:lnTo>
                  <a:lnTo>
                    <a:pt x="0" y="661899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-9495" t="0" r="-9495" b="0"/>
              </a:stretch>
            </a:blipFill>
          </p:spPr>
        </p:sp>
      </p:grpSp>
      <p:sp>
        <p:nvSpPr>
          <p:cNvPr id="417271254" name="TextBox 6"/>
          <p:cNvSpPr txBox="1"/>
          <p:nvPr/>
        </p:nvSpPr>
        <p:spPr bwMode="auto">
          <a:xfrm rot="0">
            <a:off x="800100" y="781050"/>
            <a:ext cx="2414588" cy="219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5"/>
              </a:lnSpc>
              <a:defRPr/>
            </a:pPr>
            <a:r>
              <a:rPr lang="en-US" sz="25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</a:t>
            </a:r>
            <a:endParaRPr/>
          </a:p>
        </p:txBody>
      </p:sp>
      <p:sp>
        <p:nvSpPr>
          <p:cNvPr id="1302779079" name="TextBox 7"/>
          <p:cNvSpPr txBox="1"/>
          <p:nvPr/>
        </p:nvSpPr>
        <p:spPr bwMode="auto">
          <a:xfrm rot="0">
            <a:off x="14216062" y="740721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graphicFrame>
        <p:nvGraphicFramePr>
          <p:cNvPr id="91503119" name="Table 8"/>
          <p:cNvGraphicFramePr>
            <a:graphicFrameLocks xmlns:a="http://schemas.openxmlformats.org/drawingml/2006/main" noGrp="1"/>
          </p:cNvGraphicFramePr>
          <p:nvPr/>
        </p:nvGraphicFramePr>
        <p:xfrm rot="0">
          <a:off x="325392" y="3613356"/>
          <a:ext cx="17637215" cy="5644944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110408"/>
                <a:gridCol w="7994051"/>
                <a:gridCol w="6532756"/>
              </a:tblGrid>
              <a:tr h="1128988">
                <a:tc>
                  <a:txBody>
                    <a:bodyPr/>
                    <a:p>
                      <a:pPr algn="ctr">
                        <a:lnSpc>
                          <a:spcPts val="2512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Category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512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Reference Source / Technology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512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7F4EE"/>
                          </a:solidFill>
                          <a:latin typeface="Arimo Bold"/>
                          <a:ea typeface="Arimo Bold"/>
                          <a:cs typeface="Arimo Bold"/>
                        </a:rPr>
                        <a:t>Utilization in Project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111111"/>
                    </a:solidFill>
                  </a:tcPr>
                </a:tc>
              </a:tr>
              <a:tr h="1128988"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Research Papers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"Multivariate Time-Series Anomaly Detection via Graph Neural Networks" (AAAI 2021)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Inspiration for spatio-temporal graph attention mechanics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</a:tr>
              <a:tr h="1128988"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Open-Source Frameworks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PyTorch Geometric (PyG), ONNX Runtime, C++ gRPC Core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Graph neural network training &amp; high-speed edge inference engine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</a:tr>
              <a:tr h="1128988"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Industry Standards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OPC-UA Telemetry Spec &amp; IEEE 1451 Smart Sensor Architecture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Data ingestion normalization and industrial protocol mapping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</a:tcPr>
                </a:tc>
              </a:tr>
              <a:tr h="1128993"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 b="1">
                          <a:solidFill>
                            <a:srgbClr val="2D3748"/>
                          </a:solidFill>
                          <a:latin typeface="Arimo Bold"/>
                          <a:ea typeface="Arimo Bold"/>
                          <a:cs typeface="Arimo Bold"/>
                        </a:rPr>
                        <a:t>Benchmark Datasets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SWaT (Secure Water Treatment) &amp; WADI Industrial Testbeds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ts val="2649"/>
                        </a:lnSpc>
                        <a:defRPr/>
                      </a:pPr>
                      <a:r>
                        <a:rPr lang="en-US" sz="2200">
                          <a:solidFill>
                            <a:srgbClr val="2D3748"/>
                          </a:solidFill>
                          <a:latin typeface="Arimo"/>
                          <a:ea typeface="Arimo"/>
                          <a:cs typeface="Arimo"/>
                        </a:rPr>
                        <a:t>Model training, validation, and multi-sensor drift simulation</a:t>
                      </a:r>
                      <a:endParaRPr lang="en-US" sz="1100"/>
                    </a:p>
                  </a:txBody>
                  <a:tcPr marL="64653" marR="64653" marT="64653" marB="64653" anchor="ctr">
                    <a:lnL w="4848" algn="ctr">
                      <a:solidFill>
                        <a:srgbClr val="000000"/>
                      </a:solidFill>
                    </a:lnL>
                    <a:lnR w="4848" algn="ctr">
                      <a:solidFill>
                        <a:srgbClr val="000000"/>
                      </a:solidFill>
                    </a:lnR>
                    <a:lnT w="4848" algn="ctr">
                      <a:solidFill>
                        <a:srgbClr val="000000"/>
                      </a:solidFill>
                    </a:lnT>
                    <a:lnB w="4848" algn="ctr">
                      <a:solidFill>
                        <a:srgbClr val="000000"/>
                      </a:solidFill>
                    </a:lnB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  <p:grpSp>
        <p:nvGrpSpPr>
          <p:cNvPr id="1391682388" name="Group 9"/>
          <p:cNvGrpSpPr/>
          <p:nvPr/>
        </p:nvGrpSpPr>
        <p:grpSpPr bwMode="auto">
          <a:xfrm rot="0">
            <a:off x="547453" y="5618789"/>
            <a:ext cx="2986851" cy="47625"/>
            <a:chOff x="0" y="0"/>
            <a:chExt cx="3911473" cy="62368"/>
          </a:xfrm>
        </p:grpSpPr>
        <p:sp>
          <p:nvSpPr>
            <p:cNvPr id="10" name="Freeform 10"/>
            <p:cNvSpPr/>
            <p:nvPr/>
          </p:nvSpPr>
          <p:spPr bwMode="auto">
            <a:xfrm rot="0" flipH="0" flipV="0">
              <a:off x="0" y="0"/>
              <a:ext cx="3911473" cy="62368"/>
            </a:xfrm>
            <a:custGeom>
              <a:avLst/>
              <a:gdLst/>
              <a:ahLst/>
              <a:cxnLst/>
              <a:rect l="l" t="t" r="r" b="b"/>
              <a:pathLst>
                <a:path w="3911473" h="62368" fill="norm" stroke="1" extrusionOk="0">
                  <a:moveTo>
                    <a:pt x="0" y="0"/>
                  </a:moveTo>
                  <a:lnTo>
                    <a:pt x="3911473" y="0"/>
                  </a:lnTo>
                  <a:lnTo>
                    <a:pt x="3911473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168270074" name="Group 11"/>
          <p:cNvGrpSpPr/>
          <p:nvPr/>
        </p:nvGrpSpPr>
        <p:grpSpPr bwMode="auto">
          <a:xfrm rot="0">
            <a:off x="3534323" y="5618789"/>
            <a:ext cx="7691196" cy="47625"/>
            <a:chOff x="0" y="0"/>
            <a:chExt cx="10072116" cy="62368"/>
          </a:xfrm>
        </p:grpSpPr>
        <p:sp>
          <p:nvSpPr>
            <p:cNvPr id="12" name="Freeform 12"/>
            <p:cNvSpPr/>
            <p:nvPr/>
          </p:nvSpPr>
          <p:spPr bwMode="auto">
            <a:xfrm rot="0" flipH="0" flipV="0">
              <a:off x="0" y="0"/>
              <a:ext cx="10072116" cy="62368"/>
            </a:xfrm>
            <a:custGeom>
              <a:avLst/>
              <a:gdLst/>
              <a:ahLst/>
              <a:cxnLst/>
              <a:rect l="l" t="t" r="r" b="b"/>
              <a:pathLst>
                <a:path w="10072116" h="62368" fill="norm" stroke="1" extrusionOk="0">
                  <a:moveTo>
                    <a:pt x="0" y="0"/>
                  </a:moveTo>
                  <a:lnTo>
                    <a:pt x="10072116" y="0"/>
                  </a:lnTo>
                  <a:lnTo>
                    <a:pt x="10072116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605356039" name="Group 13"/>
          <p:cNvGrpSpPr/>
          <p:nvPr/>
        </p:nvGrpSpPr>
        <p:grpSpPr bwMode="auto">
          <a:xfrm rot="0">
            <a:off x="11225500" y="5618789"/>
            <a:ext cx="6283549" cy="47625"/>
            <a:chOff x="0" y="0"/>
            <a:chExt cx="8228711" cy="62368"/>
          </a:xfrm>
        </p:grpSpPr>
        <p:sp>
          <p:nvSpPr>
            <p:cNvPr id="14" name="Freeform 14"/>
            <p:cNvSpPr/>
            <p:nvPr/>
          </p:nvSpPr>
          <p:spPr bwMode="auto">
            <a:xfrm rot="0" flipH="0" flipV="0">
              <a:off x="0" y="0"/>
              <a:ext cx="8228711" cy="62368"/>
            </a:xfrm>
            <a:custGeom>
              <a:avLst/>
              <a:gdLst/>
              <a:ahLst/>
              <a:cxnLst/>
              <a:rect l="l" t="t" r="r" b="b"/>
              <a:pathLst>
                <a:path w="8228711" h="62368" fill="norm" stroke="1" extrusionOk="0">
                  <a:moveTo>
                    <a:pt x="0" y="0"/>
                  </a:moveTo>
                  <a:lnTo>
                    <a:pt x="8228711" y="0"/>
                  </a:lnTo>
                  <a:lnTo>
                    <a:pt x="8228711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133739391" name="Group 15"/>
          <p:cNvGrpSpPr/>
          <p:nvPr/>
        </p:nvGrpSpPr>
        <p:grpSpPr bwMode="auto">
          <a:xfrm rot="0">
            <a:off x="547453" y="6854105"/>
            <a:ext cx="2986851" cy="47625"/>
            <a:chOff x="0" y="0"/>
            <a:chExt cx="3911473" cy="62368"/>
          </a:xfrm>
        </p:grpSpPr>
        <p:sp>
          <p:nvSpPr>
            <p:cNvPr id="16" name="Freeform 16"/>
            <p:cNvSpPr/>
            <p:nvPr/>
          </p:nvSpPr>
          <p:spPr bwMode="auto">
            <a:xfrm rot="0" flipH="0" flipV="0">
              <a:off x="0" y="0"/>
              <a:ext cx="3911473" cy="62368"/>
            </a:xfrm>
            <a:custGeom>
              <a:avLst/>
              <a:gdLst/>
              <a:ahLst/>
              <a:cxnLst/>
              <a:rect l="l" t="t" r="r" b="b"/>
              <a:pathLst>
                <a:path w="3911473" h="62368" fill="norm" stroke="1" extrusionOk="0">
                  <a:moveTo>
                    <a:pt x="0" y="0"/>
                  </a:moveTo>
                  <a:lnTo>
                    <a:pt x="3911473" y="0"/>
                  </a:lnTo>
                  <a:lnTo>
                    <a:pt x="3911473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293593716" name="Group 17"/>
          <p:cNvGrpSpPr/>
          <p:nvPr/>
        </p:nvGrpSpPr>
        <p:grpSpPr bwMode="auto">
          <a:xfrm rot="0">
            <a:off x="3534323" y="6854105"/>
            <a:ext cx="7691196" cy="47625"/>
            <a:chOff x="0" y="0"/>
            <a:chExt cx="10072116" cy="62368"/>
          </a:xfrm>
        </p:grpSpPr>
        <p:sp>
          <p:nvSpPr>
            <p:cNvPr id="18" name="Freeform 18"/>
            <p:cNvSpPr/>
            <p:nvPr/>
          </p:nvSpPr>
          <p:spPr bwMode="auto">
            <a:xfrm rot="0" flipH="0" flipV="0">
              <a:off x="0" y="0"/>
              <a:ext cx="10072116" cy="62368"/>
            </a:xfrm>
            <a:custGeom>
              <a:avLst/>
              <a:gdLst/>
              <a:ahLst/>
              <a:cxnLst/>
              <a:rect l="l" t="t" r="r" b="b"/>
              <a:pathLst>
                <a:path w="10072116" h="62368" fill="norm" stroke="1" extrusionOk="0">
                  <a:moveTo>
                    <a:pt x="0" y="0"/>
                  </a:moveTo>
                  <a:lnTo>
                    <a:pt x="10072116" y="0"/>
                  </a:lnTo>
                  <a:lnTo>
                    <a:pt x="10072116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710711856" name="Group 19"/>
          <p:cNvGrpSpPr/>
          <p:nvPr/>
        </p:nvGrpSpPr>
        <p:grpSpPr bwMode="auto">
          <a:xfrm rot="0">
            <a:off x="11225500" y="6854105"/>
            <a:ext cx="6283549" cy="47625"/>
            <a:chOff x="0" y="0"/>
            <a:chExt cx="8228711" cy="62368"/>
          </a:xfrm>
        </p:grpSpPr>
        <p:sp>
          <p:nvSpPr>
            <p:cNvPr id="20" name="Freeform 20"/>
            <p:cNvSpPr/>
            <p:nvPr/>
          </p:nvSpPr>
          <p:spPr bwMode="auto">
            <a:xfrm rot="0" flipH="0" flipV="0">
              <a:off x="0" y="0"/>
              <a:ext cx="8228711" cy="62368"/>
            </a:xfrm>
            <a:custGeom>
              <a:avLst/>
              <a:gdLst/>
              <a:ahLst/>
              <a:cxnLst/>
              <a:rect l="l" t="t" r="r" b="b"/>
              <a:pathLst>
                <a:path w="8228711" h="62368" fill="norm" stroke="1" extrusionOk="0">
                  <a:moveTo>
                    <a:pt x="0" y="0"/>
                  </a:moveTo>
                  <a:lnTo>
                    <a:pt x="8228711" y="0"/>
                  </a:lnTo>
                  <a:lnTo>
                    <a:pt x="8228711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684833932" name="Group 21"/>
          <p:cNvGrpSpPr/>
          <p:nvPr/>
        </p:nvGrpSpPr>
        <p:grpSpPr bwMode="auto">
          <a:xfrm rot="0">
            <a:off x="547453" y="7724044"/>
            <a:ext cx="2986851" cy="47625"/>
            <a:chOff x="0" y="0"/>
            <a:chExt cx="3911473" cy="62368"/>
          </a:xfrm>
        </p:grpSpPr>
        <p:sp>
          <p:nvSpPr>
            <p:cNvPr id="22" name="Freeform 22"/>
            <p:cNvSpPr/>
            <p:nvPr/>
          </p:nvSpPr>
          <p:spPr bwMode="auto">
            <a:xfrm rot="0" flipH="0" flipV="0">
              <a:off x="0" y="0"/>
              <a:ext cx="3911473" cy="62368"/>
            </a:xfrm>
            <a:custGeom>
              <a:avLst/>
              <a:gdLst/>
              <a:ahLst/>
              <a:cxnLst/>
              <a:rect l="l" t="t" r="r" b="b"/>
              <a:pathLst>
                <a:path w="3911473" h="62368" fill="norm" stroke="1" extrusionOk="0">
                  <a:moveTo>
                    <a:pt x="0" y="0"/>
                  </a:moveTo>
                  <a:lnTo>
                    <a:pt x="3911473" y="0"/>
                  </a:lnTo>
                  <a:lnTo>
                    <a:pt x="3911473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1301484839" name="Group 23"/>
          <p:cNvGrpSpPr/>
          <p:nvPr/>
        </p:nvGrpSpPr>
        <p:grpSpPr bwMode="auto">
          <a:xfrm rot="0">
            <a:off x="3534323" y="7724044"/>
            <a:ext cx="7691196" cy="47625"/>
            <a:chOff x="0" y="0"/>
            <a:chExt cx="10072116" cy="62368"/>
          </a:xfrm>
        </p:grpSpPr>
        <p:sp>
          <p:nvSpPr>
            <p:cNvPr id="24" name="Freeform 24"/>
            <p:cNvSpPr/>
            <p:nvPr/>
          </p:nvSpPr>
          <p:spPr bwMode="auto">
            <a:xfrm rot="0" flipH="0" flipV="0">
              <a:off x="0" y="0"/>
              <a:ext cx="10072116" cy="62368"/>
            </a:xfrm>
            <a:custGeom>
              <a:avLst/>
              <a:gdLst/>
              <a:ahLst/>
              <a:cxnLst/>
              <a:rect l="l" t="t" r="r" b="b"/>
              <a:pathLst>
                <a:path w="10072116" h="62368" fill="norm" stroke="1" extrusionOk="0">
                  <a:moveTo>
                    <a:pt x="0" y="0"/>
                  </a:moveTo>
                  <a:lnTo>
                    <a:pt x="10072116" y="0"/>
                  </a:lnTo>
                  <a:lnTo>
                    <a:pt x="10072116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grpSp>
        <p:nvGrpSpPr>
          <p:cNvPr id="59779595" name="Group 25"/>
          <p:cNvGrpSpPr/>
          <p:nvPr/>
        </p:nvGrpSpPr>
        <p:grpSpPr bwMode="auto">
          <a:xfrm rot="0">
            <a:off x="11225500" y="7724044"/>
            <a:ext cx="6283549" cy="47625"/>
            <a:chOff x="0" y="0"/>
            <a:chExt cx="8228711" cy="62368"/>
          </a:xfrm>
        </p:grpSpPr>
        <p:sp>
          <p:nvSpPr>
            <p:cNvPr id="26" name="Freeform 26"/>
            <p:cNvSpPr/>
            <p:nvPr/>
          </p:nvSpPr>
          <p:spPr bwMode="auto">
            <a:xfrm rot="0" flipH="0" flipV="0">
              <a:off x="0" y="0"/>
              <a:ext cx="8228711" cy="62368"/>
            </a:xfrm>
            <a:custGeom>
              <a:avLst/>
              <a:gdLst/>
              <a:ahLst/>
              <a:cxnLst/>
              <a:rect l="l" t="t" r="r" b="b"/>
              <a:pathLst>
                <a:path w="8228711" h="62368" fill="norm" stroke="1" extrusionOk="0">
                  <a:moveTo>
                    <a:pt x="0" y="0"/>
                  </a:moveTo>
                  <a:lnTo>
                    <a:pt x="8228711" y="0"/>
                  </a:lnTo>
                  <a:lnTo>
                    <a:pt x="8228711" y="62368"/>
                  </a:lnTo>
                  <a:lnTo>
                    <a:pt x="0" y="62368"/>
                  </a:lnTo>
                  <a:close/>
                </a:path>
              </a:pathLst>
            </a:custGeom>
            <a:solidFill>
              <a:srgbClr val="E2DDD0"/>
            </a:solidFill>
          </p:spPr>
        </p:sp>
      </p:grpSp>
      <p:sp>
        <p:nvSpPr>
          <p:cNvPr id="55581238" name="TextBox 27"/>
          <p:cNvSpPr txBox="1"/>
          <p:nvPr/>
        </p:nvSpPr>
        <p:spPr bwMode="auto">
          <a:xfrm rot="0">
            <a:off x="684028" y="2138963"/>
            <a:ext cx="5255265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28"/>
              </a:lnSpc>
              <a:defRPr/>
            </a:pPr>
            <a:r>
              <a:rPr lang="en-US" sz="40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Technical References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4E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08298502" name="Group 2"/>
          <p:cNvGrpSpPr/>
          <p:nvPr/>
        </p:nvGrpSpPr>
        <p:grpSpPr bwMode="auto">
          <a:xfrm rot="0">
            <a:off x="0" y="-50006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 bwMode="auto">
            <a:xfrm rot="0" flipH="0" flipV="0"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 fill="norm" stroke="1" extrusionOk="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id="851894539" name="Group 4"/>
          <p:cNvGrpSpPr/>
          <p:nvPr/>
        </p:nvGrpSpPr>
        <p:grpSpPr bwMode="auto">
          <a:xfrm rot="0">
            <a:off x="1923403" y="2496813"/>
            <a:ext cx="14441193" cy="5740374"/>
            <a:chOff x="0" y="0"/>
            <a:chExt cx="15240000" cy="6057900"/>
          </a:xfrm>
        </p:grpSpPr>
        <p:sp>
          <p:nvSpPr>
            <p:cNvPr id="5" name="Freeform 5" descr="image.png"/>
            <p:cNvSpPr/>
            <p:nvPr/>
          </p:nvSpPr>
          <p:spPr bwMode="auto">
            <a:xfrm rot="0" flipH="0" flipV="0">
              <a:off x="0" y="0"/>
              <a:ext cx="15240000" cy="6057900"/>
            </a:xfrm>
            <a:custGeom>
              <a:avLst/>
              <a:gdLst/>
              <a:ahLst/>
              <a:cxnLst/>
              <a:rect l="l" t="t" r="r" b="b"/>
              <a:pathLst>
                <a:path w="15240000" h="6057900" fill="norm" stroke="1" extrusionOk="0">
                  <a:moveTo>
                    <a:pt x="0" y="0"/>
                  </a:moveTo>
                  <a:lnTo>
                    <a:pt x="15240000" y="0"/>
                  </a:lnTo>
                  <a:lnTo>
                    <a:pt x="15240000" y="6057900"/>
                  </a:lnTo>
                  <a:lnTo>
                    <a:pt x="0" y="60579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/>
              <a:stretch>
                <a:fillRect l="0" t="-157" r="0" b="-156"/>
              </a:stretch>
            </a:blipFill>
          </p:spPr>
        </p:sp>
      </p:grpSp>
      <p:grpSp>
        <p:nvGrpSpPr>
          <p:cNvPr id="1512130856" name="Group 6"/>
          <p:cNvGrpSpPr/>
          <p:nvPr/>
        </p:nvGrpSpPr>
        <p:grpSpPr bwMode="auto">
          <a:xfrm rot="0">
            <a:off x="2807927" y="6648656"/>
            <a:ext cx="12672147" cy="704008"/>
            <a:chOff x="0" y="0"/>
            <a:chExt cx="13373100" cy="742950"/>
          </a:xfrm>
        </p:grpSpPr>
        <p:sp>
          <p:nvSpPr>
            <p:cNvPr id="7" name="Freeform 7" descr="image.png"/>
            <p:cNvSpPr/>
            <p:nvPr/>
          </p:nvSpPr>
          <p:spPr bwMode="auto">
            <a:xfrm rot="0" flipH="0" flipV="0">
              <a:off x="0" y="0"/>
              <a:ext cx="13373100" cy="742950"/>
            </a:xfrm>
            <a:custGeom>
              <a:avLst/>
              <a:gdLst/>
              <a:ahLst/>
              <a:cxnLst/>
              <a:rect l="l" t="t" r="r" b="b"/>
              <a:pathLst>
                <a:path w="13373100" h="742950" fill="norm" stroke="1" extrusionOk="0">
                  <a:moveTo>
                    <a:pt x="0" y="0"/>
                  </a:moveTo>
                  <a:lnTo>
                    <a:pt x="13373100" y="0"/>
                  </a:lnTo>
                  <a:lnTo>
                    <a:pt x="133731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/>
              <a:stretch>
                <a:fillRect l="0" t="-1136" r="0" b="-1135"/>
              </a:stretch>
            </a:blipFill>
          </p:spPr>
        </p:sp>
      </p:grpSp>
      <p:sp>
        <p:nvSpPr>
          <p:cNvPr id="1212017978" name="TextBox 8"/>
          <p:cNvSpPr txBox="1"/>
          <p:nvPr/>
        </p:nvSpPr>
        <p:spPr bwMode="auto">
          <a:xfrm rot="0">
            <a:off x="800100" y="800100"/>
            <a:ext cx="394335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  <a:defRPr/>
            </a:pPr>
            <a:r>
              <a:rPr lang="en-US" sz="295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CODE FORGE 2026</a:t>
            </a:r>
            <a:endParaRPr/>
          </a:p>
        </p:txBody>
      </p:sp>
      <p:sp>
        <p:nvSpPr>
          <p:cNvPr id="1936837564" name="TextBox 9"/>
          <p:cNvSpPr txBox="1"/>
          <p:nvPr/>
        </p:nvSpPr>
        <p:spPr bwMode="auto">
          <a:xfrm rot="0">
            <a:off x="14216062" y="769296"/>
            <a:ext cx="3271838" cy="20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7"/>
              </a:lnSpc>
              <a:defRPr/>
            </a:pPr>
            <a:r>
              <a:rPr lang="en-US" sz="1450" b="1">
                <a:solidFill>
                  <a:srgbClr val="5C248B"/>
                </a:solidFill>
                <a:latin typeface="Arimo Bold"/>
                <a:ea typeface="Arimo Bold"/>
                <a:cs typeface="Arimo Bold"/>
              </a:rPr>
              <a:t>G H RAISONI SKILLTECH UNIVERSITY</a:t>
            </a:r>
            <a:endParaRPr/>
          </a:p>
        </p:txBody>
      </p:sp>
      <p:sp>
        <p:nvSpPr>
          <p:cNvPr id="2100059542" name="TextBox 10"/>
          <p:cNvSpPr txBox="1"/>
          <p:nvPr/>
        </p:nvSpPr>
        <p:spPr bwMode="auto">
          <a:xfrm rot="0">
            <a:off x="2546226" y="3915999"/>
            <a:ext cx="13305754" cy="1227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53"/>
              </a:lnSpc>
              <a:defRPr/>
            </a:pPr>
            <a:r>
              <a:rPr lang="en-US" sz="8200">
                <a:solidFill>
                  <a:srgbClr val="111111"/>
                </a:solidFill>
                <a:latin typeface="Playfair Display"/>
                <a:ea typeface="Playfair Display"/>
                <a:cs typeface="Playfair Display"/>
              </a:rPr>
              <a:t>Thank You!</a:t>
            </a:r>
            <a:endParaRPr/>
          </a:p>
        </p:txBody>
      </p:sp>
      <p:sp>
        <p:nvSpPr>
          <p:cNvPr id="114800267" name="TextBox 11"/>
          <p:cNvSpPr txBox="1"/>
          <p:nvPr/>
        </p:nvSpPr>
        <p:spPr bwMode="auto">
          <a:xfrm rot="0">
            <a:off x="5963929" y="5838848"/>
            <a:ext cx="6360142" cy="3946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0"/>
              </a:lnSpc>
              <a:defRPr/>
            </a:pPr>
            <a:r>
              <a:rPr lang="en-US" sz="2400" b="1">
                <a:solidFill>
                  <a:srgbClr val="111111"/>
                </a:solidFill>
                <a:latin typeface="Arimo Bold"/>
                <a:ea typeface="Arimo Bold"/>
                <a:cs typeface="Arimo Bold"/>
              </a:rPr>
              <a:t>Team Smasherz | Problem Code: CF-26 S-03</a:t>
            </a:r>
            <a:endParaRPr/>
          </a:p>
        </p:txBody>
      </p:sp>
      <p:grpSp>
        <p:nvGrpSpPr>
          <p:cNvPr id="344204648" name="Group 12"/>
          <p:cNvGrpSpPr/>
          <p:nvPr/>
        </p:nvGrpSpPr>
        <p:grpSpPr bwMode="auto">
          <a:xfrm rot="0">
            <a:off x="10514132" y="7045788"/>
            <a:ext cx="2387839" cy="453634"/>
            <a:chOff x="0" y="0"/>
            <a:chExt cx="2519921" cy="478726"/>
          </a:xfrm>
        </p:grpSpPr>
        <p:sp>
          <p:nvSpPr>
            <p:cNvPr id="13" name="Freeform 13"/>
            <p:cNvSpPr/>
            <p:nvPr/>
          </p:nvSpPr>
          <p:spPr bwMode="auto">
            <a:xfrm rot="0" flipH="0" flipV="0">
              <a:off x="0" y="0"/>
              <a:ext cx="2519934" cy="478790"/>
            </a:xfrm>
            <a:custGeom>
              <a:avLst/>
              <a:gdLst/>
              <a:ahLst/>
              <a:cxnLst/>
              <a:rect l="l" t="t" r="r" b="b"/>
              <a:pathLst>
                <a:path w="2519934" h="478790" fill="norm" stroke="1" extrusionOk="0">
                  <a:moveTo>
                    <a:pt x="0" y="0"/>
                  </a:moveTo>
                  <a:lnTo>
                    <a:pt x="2519934" y="0"/>
                  </a:lnTo>
                  <a:lnTo>
                    <a:pt x="2519934" y="478790"/>
                  </a:lnTo>
                  <a:lnTo>
                    <a:pt x="0" y="478790"/>
                  </a:lnTo>
                  <a:close/>
                </a:path>
              </a:pathLst>
            </a:custGeom>
            <a:blipFill rotWithShape="1">
              <a:blip r:embed="rId6">
                <a:alphaModFix amt="0"/>
              </a:blip>
              <a:stretch>
                <a:fillRect l="0" t="-52485" r="0" b="-52473"/>
              </a:stretch>
            </a:blipFill>
          </p:spPr>
        </p:sp>
      </p:grpSp>
      <p:grpSp>
        <p:nvGrpSpPr>
          <p:cNvPr id="1304270280" name="Group 14"/>
          <p:cNvGrpSpPr/>
          <p:nvPr/>
        </p:nvGrpSpPr>
        <p:grpSpPr bwMode="auto">
          <a:xfrm rot="0">
            <a:off x="10514132" y="7027736"/>
            <a:ext cx="2387839" cy="471685"/>
            <a:chOff x="0" y="0"/>
            <a:chExt cx="2519921" cy="497776"/>
          </a:xfrm>
        </p:grpSpPr>
        <p:sp>
          <p:nvSpPr>
            <p:cNvPr id="15" name="Freeform 15"/>
            <p:cNvSpPr/>
            <p:nvPr/>
          </p:nvSpPr>
          <p:spPr bwMode="auto">
            <a:xfrm rot="0" flipH="0" flipV="0">
              <a:off x="0" y="0"/>
              <a:ext cx="2519921" cy="497781"/>
            </a:xfrm>
            <a:custGeom>
              <a:avLst/>
              <a:gdLst/>
              <a:ahLst/>
              <a:cxnLst/>
              <a:rect l="l" t="t" r="r" b="b"/>
              <a:pathLst>
                <a:path w="2519921" h="497782" fill="norm" stroke="1" extrusionOk="0">
                  <a:moveTo>
                    <a:pt x="0" y="0"/>
                  </a:moveTo>
                  <a:lnTo>
                    <a:pt x="2519921" y="0"/>
                  </a:lnTo>
                  <a:lnTo>
                    <a:pt x="2519921" y="497782"/>
                  </a:lnTo>
                  <a:lnTo>
                    <a:pt x="0" y="497782"/>
                  </a:lnTo>
                  <a:close/>
                </a:path>
              </a:pathLst>
            </a:custGeom>
            <a:blipFill rotWithShape="1">
              <a:blip r:embed="rId7">
                <a:alphaModFix amt="0"/>
              </a:blip>
              <a:stretch>
                <a:fillRect l="0" t="-48639" r="0" b="-48638"/>
              </a:stretch>
            </a:blipFill>
          </p:spPr>
        </p:sp>
        <p:sp>
          <p:nvSpPr>
            <p:cNvPr id="16" name="TextBox 16"/>
            <p:cNvSpPr txBox="1"/>
            <p:nvPr/>
          </p:nvSpPr>
          <p:spPr bwMode="auto">
            <a:xfrm>
              <a:off x="0" y="-19050"/>
              <a:ext cx="2519921" cy="516826"/>
            </a:xfrm>
            <a:prstGeom prst="rect">
              <a:avLst/>
            </a:prstGeom>
            <a:grpFill/>
          </p:spPr>
          <p:txBody>
            <a:bodyPr lIns="0" tIns="0" rIns="0" bIns="0" rtlCol="0" anchor="ctr"/>
            <a:lstStyle/>
            <a:p>
              <a:pPr algn="ctr">
                <a:lnSpc>
                  <a:spcPts val="2128"/>
                </a:lnSpc>
                <a:defRPr/>
              </a:pPr>
              <a:r>
                <a:rPr lang="en-US" sz="1750" b="1">
                  <a:solidFill>
                    <a:srgbClr val="4A5568"/>
                  </a:solidFill>
                  <a:latin typeface="Arimo Bold"/>
                  <a:ea typeface="Arimo Bold"/>
                  <a:cs typeface="Arimo Bold"/>
                </a:rPr>
                <a:t>GHRCEM Nagpur</a:t>
              </a:r>
              <a:endParaRPr/>
            </a:p>
          </p:txBody>
        </p:sp>
      </p:grpSp>
      <p:grpSp>
        <p:nvGrpSpPr>
          <p:cNvPr id="1609690166" name="Group 17"/>
          <p:cNvGrpSpPr/>
          <p:nvPr/>
        </p:nvGrpSpPr>
        <p:grpSpPr bwMode="auto">
          <a:xfrm rot="0">
            <a:off x="4123940" y="7027736"/>
            <a:ext cx="362149" cy="362149"/>
            <a:chOff x="0" y="0"/>
            <a:chExt cx="382181" cy="382181"/>
          </a:xfrm>
        </p:grpSpPr>
        <p:sp>
          <p:nvSpPr>
            <p:cNvPr id="18" name="Freeform 18" descr="image.png"/>
            <p:cNvSpPr/>
            <p:nvPr/>
          </p:nvSpPr>
          <p:spPr bwMode="auto">
            <a:xfrm rot="0" flipH="0" flipV="0">
              <a:off x="0" y="0"/>
              <a:ext cx="382143" cy="382143"/>
            </a:xfrm>
            <a:custGeom>
              <a:avLst/>
              <a:gdLst/>
              <a:ahLst/>
              <a:cxnLst/>
              <a:rect l="l" t="t" r="r" b="b"/>
              <a:pathLst>
                <a:path w="382143" h="382143" fill="norm" stroke="1" extrusionOk="0">
                  <a:moveTo>
                    <a:pt x="0" y="0"/>
                  </a:moveTo>
                  <a:lnTo>
                    <a:pt x="382143" y="0"/>
                  </a:lnTo>
                  <a:lnTo>
                    <a:pt x="382143" y="382143"/>
                  </a:lnTo>
                  <a:lnTo>
                    <a:pt x="0" y="38214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/>
              <a:stretch>
                <a:fillRect l="-3572" t="0" r="-3581" b="-9"/>
              </a:stretch>
            </a:blipFill>
          </p:spPr>
        </p:sp>
      </p:grpSp>
      <p:grpSp>
        <p:nvGrpSpPr>
          <p:cNvPr id="666977958" name="Group 19"/>
          <p:cNvGrpSpPr/>
          <p:nvPr/>
        </p:nvGrpSpPr>
        <p:grpSpPr bwMode="auto">
          <a:xfrm rot="0">
            <a:off x="10257958" y="7063840"/>
            <a:ext cx="256175" cy="326046"/>
            <a:chOff x="0" y="0"/>
            <a:chExt cx="270345" cy="344081"/>
          </a:xfrm>
        </p:grpSpPr>
        <p:sp>
          <p:nvSpPr>
            <p:cNvPr id="20" name="Freeform 20" descr="image.png"/>
            <p:cNvSpPr/>
            <p:nvPr/>
          </p:nvSpPr>
          <p:spPr bwMode="auto">
            <a:xfrm rot="0" flipH="0" flipV="0">
              <a:off x="0" y="0"/>
              <a:ext cx="270383" cy="344042"/>
            </a:xfrm>
            <a:custGeom>
              <a:avLst/>
              <a:gdLst/>
              <a:ahLst/>
              <a:cxnLst/>
              <a:rect l="l" t="t" r="r" b="b"/>
              <a:pathLst>
                <a:path w="270383" h="344043" fill="norm" stroke="1" extrusionOk="0">
                  <a:moveTo>
                    <a:pt x="0" y="0"/>
                  </a:moveTo>
                  <a:lnTo>
                    <a:pt x="270383" y="0"/>
                  </a:lnTo>
                  <a:lnTo>
                    <a:pt x="270383" y="344043"/>
                  </a:lnTo>
                  <a:lnTo>
                    <a:pt x="0" y="34404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9"/>
              <a:stretch>
                <a:fillRect l="-4546" t="0" r="-4531" b="-10"/>
              </a:stretch>
            </a:blipFill>
          </p:spPr>
        </p:sp>
      </p:grpSp>
      <p:sp>
        <p:nvSpPr>
          <p:cNvPr id="640250609" name="TextBox 21"/>
          <p:cNvSpPr txBox="1"/>
          <p:nvPr/>
        </p:nvSpPr>
        <p:spPr bwMode="auto">
          <a:xfrm rot="0">
            <a:off x="4607588" y="6878332"/>
            <a:ext cx="2473427" cy="527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defRPr/>
            </a:pPr>
            <a:r>
              <a:rPr lang="en-US" sz="2400" u="sng">
                <a:solidFill>
                  <a:srgbClr val="0000FF"/>
                </a:solidFill>
                <a:latin typeface="Arimo"/>
                <a:ea typeface="Arimo"/>
                <a:cs typeface="Arimo"/>
                <a:hlinkClick r:id="rId10" tooltip="https://github.com/tushartiple24/CF26-S03-Smasherz"/>
              </a:rPr>
              <a:t>GitHub</a:t>
            </a:r>
            <a:r>
              <a:rPr lang="en-US" sz="2400">
                <a:solidFill>
                  <a:srgbClr val="000000"/>
                </a:solidFill>
                <a:latin typeface="Arimo"/>
                <a:ea typeface="Arimo"/>
                <a:cs typeface="Arimo"/>
              </a:rPr>
              <a:t> Repository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Smasherz_CF26_S03_PPT.pptx</dc:title>
  <dc:identifier>DAHTR-H84Y8</dc:identifier>
  <cp:lastModifiedBy/>
  <cp:revision>2</cp:revision>
  <dcterms:created xsi:type="dcterms:W3CDTF">2006-08-16T00:00:00Z</dcterms:created>
  <dcterms:modified xsi:type="dcterms:W3CDTF">2026-08-25T09:51:15Z</dcterms:modified>
</cp:coreProperties>
</file>