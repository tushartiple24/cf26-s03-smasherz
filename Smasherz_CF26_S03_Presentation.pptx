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layfair Display" charset="1" panose="00000000000000000000"/>
      <p:regular r:id="rId16"/>
    </p:embeddedFon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17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jpe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hyperlink" Target="https://github.com/tushartiple24/CF26-S03-Smasherz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5977528"/>
            <a:ext cx="16687800" cy="1511570"/>
            <a:chOff x="0" y="0"/>
            <a:chExt cx="22250400" cy="201542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2015490"/>
            </a:xfrm>
            <a:custGeom>
              <a:avLst/>
              <a:gdLst/>
              <a:ahLst/>
              <a:cxnLst/>
              <a:rect r="r" b="b" t="t" l="l"/>
              <a:pathLst>
                <a:path h="201549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015490"/>
                  </a:lnTo>
                  <a:lnTo>
                    <a:pt x="0" y="2015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68" r="0" b="-5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01450" y="2411682"/>
            <a:ext cx="5886450" cy="1128712"/>
            <a:chOff x="0" y="0"/>
            <a:chExt cx="7848600" cy="1504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848600" cy="1504950"/>
            </a:xfrm>
            <a:custGeom>
              <a:avLst/>
              <a:gdLst/>
              <a:ahLst/>
              <a:cxnLst/>
              <a:rect r="r" b="b" t="t" l="l"/>
              <a:pathLst>
                <a:path h="150495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1504950"/>
                  </a:lnTo>
                  <a:lnTo>
                    <a:pt x="0" y="150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2" r="0" b="-6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8386315"/>
            <a:ext cx="4000500" cy="1334946"/>
            <a:chOff x="0" y="0"/>
            <a:chExt cx="5334000" cy="177992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783" t="0" r="-207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29200" y="8386315"/>
            <a:ext cx="4000500" cy="1334946"/>
            <a:chOff x="0" y="0"/>
            <a:chExt cx="5334000" cy="177992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783" t="0" r="-2078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8386315"/>
            <a:ext cx="4000500" cy="1334946"/>
            <a:chOff x="0" y="0"/>
            <a:chExt cx="5334000" cy="177992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334000" cy="1779929"/>
            </a:xfrm>
            <a:custGeom>
              <a:avLst/>
              <a:gdLst/>
              <a:ahLst/>
              <a:cxnLst/>
              <a:rect r="r" b="b" t="t" l="l"/>
              <a:pathLst>
                <a:path h="1779929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783" t="0" r="-2078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87400" y="8386315"/>
            <a:ext cx="4406759" cy="1334946"/>
            <a:chOff x="0" y="0"/>
            <a:chExt cx="5875679" cy="1779929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875679" cy="1779929"/>
            </a:xfrm>
            <a:custGeom>
              <a:avLst/>
              <a:gdLst/>
              <a:ahLst/>
              <a:cxnLst/>
              <a:rect r="r" b="b" t="t" l="l"/>
              <a:pathLst>
                <a:path h="1779929" w="5875679">
                  <a:moveTo>
                    <a:pt x="0" y="0"/>
                  </a:moveTo>
                  <a:lnTo>
                    <a:pt x="5875679" y="0"/>
                  </a:lnTo>
                  <a:lnTo>
                    <a:pt x="5875679" y="1779929"/>
                  </a:lnTo>
                  <a:lnTo>
                    <a:pt x="0" y="1779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258" t="0" r="-1425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0100" y="1028700"/>
            <a:ext cx="29860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150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588" y="6325191"/>
            <a:ext cx="157448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C0944F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TITLE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9489" y="6685688"/>
            <a:ext cx="7039421" cy="48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</a:pPr>
            <a:r>
              <a:rPr lang="en-US" sz="29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Urba</a:t>
            </a:r>
            <a:r>
              <a:rPr lang="en-US" sz="29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n Infrastructure Cascade Simulator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0100" y="2630757"/>
            <a:ext cx="4357688" cy="200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92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</a:t>
            </a:r>
          </a:p>
          <a:p>
            <a:pPr algn="l">
              <a:lnSpc>
                <a:spcPts val="8763"/>
              </a:lnSpc>
            </a:pPr>
            <a:r>
              <a:rPr lang="en-US" sz="92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1594" y="4840857"/>
            <a:ext cx="34790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HACKATHON 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5788" y="2635520"/>
            <a:ext cx="5114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8A611D"/>
                </a:solidFill>
                <a:latin typeface="Arimo Bold"/>
                <a:ea typeface="Arimo Bold"/>
                <a:cs typeface="Arimo Bold"/>
                <a:sym typeface="Arimo Bold"/>
              </a:rPr>
              <a:t>OFFICIAL TEMPLATE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15788" y="2906982"/>
            <a:ext cx="51149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Department of Science &amp; Technology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1594" y="8610152"/>
            <a:ext cx="11049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TEAM NAME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07419" y="8972102"/>
            <a:ext cx="12446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Smasherz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95925" y="8595865"/>
            <a:ext cx="14902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PROBLEM CODE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75487" y="9025213"/>
            <a:ext cx="150792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CF-2026-S-03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2175" y="8595865"/>
            <a:ext cx="150033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TEAM MEMBERS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88341" y="8934002"/>
            <a:ext cx="35404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Tushar Tiple, Smit Patil, Atharva Trinagriwar, Yugal Kalaskar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00485" y="8531571"/>
            <a:ext cx="114553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437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INSTITUTION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6000" y="8887101"/>
            <a:ext cx="40911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St.Vincent Palloti College of Engineering and Technology, Nagpur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16062" y="976465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16062" y="1171204"/>
            <a:ext cx="3271838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85"/>
              </a:lnSpc>
            </a:pPr>
            <a:r>
              <a:rPr lang="en-US" sz="1237">
                <a:solidFill>
                  <a:srgbClr val="C0944F"/>
                </a:solidFill>
                <a:latin typeface="Arimo"/>
                <a:ea typeface="Arimo"/>
                <a:cs typeface="Arimo"/>
                <a:sym typeface="Arimo"/>
              </a:rPr>
              <a:t>NAGPUR, MAHARASHTRA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78057" y="8629202"/>
            <a:ext cx="207818" cy="152400"/>
            <a:chOff x="0" y="0"/>
            <a:chExt cx="285750" cy="2095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285750" cy="209550"/>
            </a:xfrm>
            <a:custGeom>
              <a:avLst/>
              <a:gdLst/>
              <a:ahLst/>
              <a:cxnLst/>
              <a:rect r="r" b="b" t="t" l="l"/>
              <a:pathLst>
                <a:path h="2095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545" r="0" b="-45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00662" y="8629202"/>
            <a:ext cx="157162" cy="157162"/>
            <a:chOff x="0" y="0"/>
            <a:chExt cx="209550" cy="2095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545" r="0" b="-454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34525" y="8603009"/>
            <a:ext cx="214312" cy="157162"/>
            <a:chOff x="0" y="0"/>
            <a:chExt cx="285750" cy="2095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285750" cy="209550"/>
            </a:xfrm>
            <a:custGeom>
              <a:avLst/>
              <a:gdLst/>
              <a:ahLst/>
              <a:cxnLst/>
              <a:rect r="r" b="b" t="t" l="l"/>
              <a:pathLst>
                <a:path h="2095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545" r="0" b="-454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63625" y="8576815"/>
            <a:ext cx="171450" cy="157162"/>
            <a:chOff x="0" y="0"/>
            <a:chExt cx="228600" cy="2095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28600" cy="209550"/>
            </a:xfrm>
            <a:custGeom>
              <a:avLst/>
              <a:gdLst/>
              <a:ahLst/>
              <a:cxnLst/>
              <a:rect r="r" b="b" t="t" l="l"/>
              <a:pathLst>
                <a:path h="2095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545" r="0" b="-454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9272588"/>
            <a:ext cx="16687800" cy="1121569"/>
            <a:chOff x="0" y="0"/>
            <a:chExt cx="22250400" cy="14954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1495425"/>
            </a:xfrm>
            <a:custGeom>
              <a:avLst/>
              <a:gdLst/>
              <a:ahLst/>
              <a:cxnLst/>
              <a:rect r="r" b="b" t="t" l="l"/>
              <a:pathLst>
                <a:path h="149542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1495425"/>
                  </a:lnTo>
                  <a:lnTo>
                    <a:pt x="0" y="149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8" r="0" b="-3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0100" y="2486025"/>
            <a:ext cx="8201025" cy="3107531"/>
            <a:chOff x="0" y="0"/>
            <a:chExt cx="10934700" cy="41433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4" r="0" b="-11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6875" y="2486025"/>
            <a:ext cx="8201025" cy="3107531"/>
            <a:chOff x="0" y="0"/>
            <a:chExt cx="10934700" cy="414337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4" r="0" b="-1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0100" y="5879306"/>
            <a:ext cx="8201025" cy="3107531"/>
            <a:chOff x="0" y="0"/>
            <a:chExt cx="10934700" cy="414337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4" r="0" b="-11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86875" y="5879306"/>
            <a:ext cx="8201025" cy="3107531"/>
            <a:chOff x="0" y="0"/>
            <a:chExt cx="10934700" cy="41433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9347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143375"/>
                  </a:lnTo>
                  <a:lnTo>
                    <a:pt x="0" y="414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4" r="0" b="-11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8262" y="9520237"/>
            <a:ext cx="158067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C0944F"/>
                </a:solidFill>
                <a:latin typeface="Arimo Bold"/>
                <a:ea typeface="Arimo Bold"/>
                <a:cs typeface="Arimo Bold"/>
                <a:sym typeface="Arimo Bold"/>
              </a:rPr>
              <a:t>ONE CLEAR 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38" y="9748837"/>
            <a:ext cx="15930562" cy="3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t>"How to accurately model and simulate cascading failures across interdependent urban infrastructure networks to predict and mitigate systemic collapses."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8712" y="2814638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8712" y="3652838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In Our Own Words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8712" y="4110038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Urban networks (power, water, healthcare) are highly interdependent, yet current models fail to track cascading failures across different domains efficiently.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15488" y="2814638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15488" y="3652838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Real-World Context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15488" y="4110038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Modern smart cities rely on interconnected services where a single substation failure can trigger water shortages and hospital outages.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28712" y="6207919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28712" y="70461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Who Is Affected?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8712" y="75033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City planners, emergency responders, and utility managers who need to predict cascading impacts of natural disasters or targeted attacks.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15488" y="6207919"/>
            <a:ext cx="685800" cy="685800"/>
            <a:chOff x="0" y="0"/>
            <a:chExt cx="914400" cy="9144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615488" y="70461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Existing Limitations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15488" y="75033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Existing simulations are tightly coupled, monolithic, and lack discrete-time tracking, making it hard to identify the exact cascade path and recovery times.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4438" y="9558338"/>
            <a:ext cx="185738" cy="171450"/>
            <a:chOff x="0" y="0"/>
            <a:chExt cx="247650" cy="2286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247650" cy="228600"/>
            </a:xfrm>
            <a:custGeom>
              <a:avLst/>
              <a:gdLst/>
              <a:ahLst/>
              <a:cxnLst/>
              <a:rect r="r" b="b" t="t" l="l"/>
              <a:pathLst>
                <a:path h="2286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5875" y="2971800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72650" y="2971800"/>
            <a:ext cx="371475" cy="371475"/>
            <a:chOff x="0" y="0"/>
            <a:chExt cx="495300" cy="4953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5869" y="6365081"/>
            <a:ext cx="471488" cy="371475"/>
            <a:chOff x="0" y="0"/>
            <a:chExt cx="628650" cy="4953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628650" cy="495300"/>
            </a:xfrm>
            <a:custGeom>
              <a:avLst/>
              <a:gdLst/>
              <a:ahLst/>
              <a:cxnLst/>
              <a:rect r="r" b="b" t="t" l="l"/>
              <a:pathLst>
                <a:path h="4953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94" r="0" b="-39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72650" y="6365081"/>
            <a:ext cx="371475" cy="371475"/>
            <a:chOff x="0" y="0"/>
            <a:chExt cx="495300" cy="4953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923" r="0" b="-192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00100" y="1509712"/>
            <a:ext cx="309547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2750344"/>
            <a:ext cx="8201025" cy="3150394"/>
            <a:chOff x="0" y="0"/>
            <a:chExt cx="10934700" cy="42005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3" r="0" b="-11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75" y="2750344"/>
            <a:ext cx="8201025" cy="3150394"/>
            <a:chOff x="0" y="0"/>
            <a:chExt cx="10934700" cy="42005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" r="0" b="-11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6186488"/>
            <a:ext cx="8201025" cy="3150394"/>
            <a:chOff x="0" y="0"/>
            <a:chExt cx="10934700" cy="420052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" r="0" b="-11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6875" y="6186488"/>
            <a:ext cx="8201025" cy="3150394"/>
            <a:chOff x="0" y="0"/>
            <a:chExt cx="10934700" cy="420052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4200525"/>
            </a:xfrm>
            <a:custGeom>
              <a:avLst/>
              <a:gdLst/>
              <a:ahLst/>
              <a:cxnLst/>
              <a:rect r="r" b="b" t="t" l="l"/>
              <a:pathLst>
                <a:path h="4200525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4200525"/>
                  </a:lnTo>
                  <a:lnTo>
                    <a:pt x="0" y="420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" r="0" b="-11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712" y="3121819"/>
            <a:ext cx="685800" cy="685800"/>
            <a:chOff x="0" y="0"/>
            <a:chExt cx="9144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28712" y="39600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Core Technical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712" y="44172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Developing a purely functional, discrete-time propagation engine (Lane 2) that deterministically evaluates failure cascades based on weighted dependency edges.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15488" y="3121819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41" r="0" b="-104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15488" y="3960019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Key Assumptions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488" y="4417219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Infrastructure nodes have capacity and failure thresholds. Edges represent dependency weights. State is evaluated strictly at discrete ticks.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8712" y="6557962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8712" y="7396162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Known Constraints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" y="7853362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The simulation must run in a separated 4-lane architecture (DB, Engine, Visuals, Metrics) with strict cross-lane data contracts (immutable snapshots).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15488" y="6557962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41" r="0" b="-104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15488" y="7396162"/>
            <a:ext cx="79209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Edge Cases &amp; Complexity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15488" y="7853362"/>
            <a:ext cx="7543800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Handling simultaneous disruptions, cyclical dependencies, and interleaving recovery actions before failure propagation within a single tick.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5875" y="3278981"/>
            <a:ext cx="371475" cy="371475"/>
            <a:chOff x="0" y="0"/>
            <a:chExt cx="495300" cy="4953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2650" y="3278981"/>
            <a:ext cx="371475" cy="371475"/>
            <a:chOff x="0" y="0"/>
            <a:chExt cx="495300" cy="4953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923" r="0" b="-192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875" y="6715125"/>
            <a:ext cx="371475" cy="371475"/>
            <a:chOff x="0" y="0"/>
            <a:chExt cx="495300" cy="4953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72650" y="6715125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923" r="0" b="-192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00100" y="1509712"/>
            <a:ext cx="1748790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Problem Decomposition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529012"/>
            <a:ext cx="16687800" cy="5029200"/>
            <a:chOff x="0" y="0"/>
            <a:chExt cx="22250400" cy="6705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6705600"/>
            </a:xfrm>
            <a:custGeom>
              <a:avLst/>
              <a:gdLst/>
              <a:ahLst/>
              <a:cxnLst/>
              <a:rect r="r" b="b" t="t" l="l"/>
              <a:pathLst>
                <a:path h="67056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38200" y="3543300"/>
          <a:ext cx="16649700" cy="4953000"/>
        </p:xfrm>
        <a:graphic>
          <a:graphicData uri="http://schemas.openxmlformats.org/drawingml/2006/table">
            <a:tbl>
              <a:tblPr/>
              <a:tblGrid>
                <a:gridCol w="2259874"/>
                <a:gridCol w="3497774"/>
                <a:gridCol w="4300706"/>
                <a:gridCol w="4432042"/>
                <a:gridCol w="2159303"/>
              </a:tblGrid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Approach / System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Core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Strengths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Where It Fails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Our Identified </a:t>
                      </a:r>
                      <a:endParaRPr lang="en-US" sz="1100"/>
                    </a:p>
                    <a:p>
                      <a:pPr algn="ctr">
                        <a:lnSpc>
                          <a:spcPts val="2114"/>
                        </a:lnSpc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Gap</a:t>
                      </a:r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Rule-Based Thresholds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Static Min/Max Limits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Zero compute overhead, instant setup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Incapable of capturing inter-sensor dynamics; high false alarms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Classic LSTM-AE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Reconstruction Error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Detects temporal sequential drift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computational latency; fails to capture spatial graph topology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Cloud Transformer AI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Attention Layers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precision on complex data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constant cloud connectivity, high bandwidth &amp; cost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Neural Nets + Dynamic Scoring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Captures joint spatial-temporal interplay at low compute footprint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short initialization window (~2 mins)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4388" y="5493544"/>
            <a:ext cx="2266350" cy="14288"/>
            <a:chOff x="0" y="0"/>
            <a:chExt cx="30218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80737" y="5493544"/>
            <a:ext cx="3507800" cy="14288"/>
            <a:chOff x="0" y="0"/>
            <a:chExt cx="4677067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88547" y="5493544"/>
            <a:ext cx="4313034" cy="14288"/>
            <a:chOff x="0" y="0"/>
            <a:chExt cx="5750712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01582" y="5493544"/>
            <a:ext cx="4444746" cy="14288"/>
            <a:chOff x="0" y="0"/>
            <a:chExt cx="5926328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346337" y="5493544"/>
            <a:ext cx="2127275" cy="14288"/>
            <a:chOff x="0" y="0"/>
            <a:chExt cx="2836367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14388" y="6507956"/>
            <a:ext cx="2266350" cy="14288"/>
            <a:chOff x="0" y="0"/>
            <a:chExt cx="302180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80737" y="6507956"/>
            <a:ext cx="3507800" cy="14288"/>
            <a:chOff x="0" y="0"/>
            <a:chExt cx="4677067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8547" y="6507956"/>
            <a:ext cx="4313034" cy="14288"/>
            <a:chOff x="0" y="0"/>
            <a:chExt cx="575071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01582" y="6507956"/>
            <a:ext cx="4444746" cy="14288"/>
            <a:chOff x="0" y="0"/>
            <a:chExt cx="5926328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346337" y="6507956"/>
            <a:ext cx="2127275" cy="14288"/>
            <a:chOff x="0" y="0"/>
            <a:chExt cx="2836367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14388" y="7522369"/>
            <a:ext cx="2266350" cy="14288"/>
            <a:chOff x="0" y="0"/>
            <a:chExt cx="30218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21838" cy="19050"/>
            </a:xfrm>
            <a:custGeom>
              <a:avLst/>
              <a:gdLst/>
              <a:ahLst/>
              <a:cxnLst/>
              <a:rect r="r" b="b" t="t" l="l"/>
              <a:pathLst>
                <a:path h="19050" w="3021838">
                  <a:moveTo>
                    <a:pt x="0" y="0"/>
                  </a:moveTo>
                  <a:lnTo>
                    <a:pt x="3021838" y="0"/>
                  </a:lnTo>
                  <a:lnTo>
                    <a:pt x="302183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80737" y="7522369"/>
            <a:ext cx="3507800" cy="14288"/>
            <a:chOff x="0" y="0"/>
            <a:chExt cx="4677067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77029" cy="19050"/>
            </a:xfrm>
            <a:custGeom>
              <a:avLst/>
              <a:gdLst/>
              <a:ahLst/>
              <a:cxnLst/>
              <a:rect r="r" b="b" t="t" l="l"/>
              <a:pathLst>
                <a:path h="19050" w="4677029">
                  <a:moveTo>
                    <a:pt x="0" y="0"/>
                  </a:moveTo>
                  <a:lnTo>
                    <a:pt x="4677029" y="0"/>
                  </a:lnTo>
                  <a:lnTo>
                    <a:pt x="467702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88547" y="7522369"/>
            <a:ext cx="4313034" cy="14288"/>
            <a:chOff x="0" y="0"/>
            <a:chExt cx="5750712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50687" cy="19050"/>
            </a:xfrm>
            <a:custGeom>
              <a:avLst/>
              <a:gdLst/>
              <a:ahLst/>
              <a:cxnLst/>
              <a:rect r="r" b="b" t="t" l="l"/>
              <a:pathLst>
                <a:path h="19050" w="5750687">
                  <a:moveTo>
                    <a:pt x="0" y="0"/>
                  </a:moveTo>
                  <a:lnTo>
                    <a:pt x="5750687" y="0"/>
                  </a:lnTo>
                  <a:lnTo>
                    <a:pt x="575068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01582" y="7522369"/>
            <a:ext cx="4444746" cy="14288"/>
            <a:chOff x="0" y="0"/>
            <a:chExt cx="5926328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26328" cy="19050"/>
            </a:xfrm>
            <a:custGeom>
              <a:avLst/>
              <a:gdLst/>
              <a:ahLst/>
              <a:cxnLst/>
              <a:rect r="r" b="b" t="t" l="l"/>
              <a:pathLst>
                <a:path h="19050" w="5926328">
                  <a:moveTo>
                    <a:pt x="0" y="0"/>
                  </a:moveTo>
                  <a:lnTo>
                    <a:pt x="5926328" y="0"/>
                  </a:lnTo>
                  <a:lnTo>
                    <a:pt x="592632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346337" y="7522369"/>
            <a:ext cx="2127275" cy="14288"/>
            <a:chOff x="0" y="0"/>
            <a:chExt cx="2836367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36418" cy="19050"/>
            </a:xfrm>
            <a:custGeom>
              <a:avLst/>
              <a:gdLst/>
              <a:ahLst/>
              <a:cxnLst/>
              <a:rect r="r" b="b" t="t" l="l"/>
              <a:pathLst>
                <a:path h="19050" w="2836418">
                  <a:moveTo>
                    <a:pt x="0" y="0"/>
                  </a:moveTo>
                  <a:lnTo>
                    <a:pt x="2836418" y="0"/>
                  </a:lnTo>
                  <a:lnTo>
                    <a:pt x="28364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533637" y="4702969"/>
            <a:ext cx="1612925" cy="600075"/>
            <a:chOff x="0" y="0"/>
            <a:chExt cx="2150567" cy="8001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" t="0" r="-46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603512" y="5843588"/>
            <a:ext cx="1543050" cy="342900"/>
            <a:chOff x="0" y="0"/>
            <a:chExt cx="2057400" cy="4572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57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2" t="0" r="-46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603512" y="6729412"/>
            <a:ext cx="1612925" cy="600075"/>
            <a:chOff x="0" y="0"/>
            <a:chExt cx="2150567" cy="8001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" t="0" r="-4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71562" y="7743825"/>
            <a:ext cx="1752000" cy="600075"/>
            <a:chOff x="0" y="0"/>
            <a:chExt cx="2336000" cy="8001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336038" cy="800100"/>
            </a:xfrm>
            <a:custGeom>
              <a:avLst/>
              <a:gdLst/>
              <a:ahLst/>
              <a:cxnLst/>
              <a:rect r="r" b="b" t="t" l="l"/>
              <a:pathLst>
                <a:path h="800100" w="2336038">
                  <a:moveTo>
                    <a:pt x="0" y="0"/>
                  </a:moveTo>
                  <a:lnTo>
                    <a:pt x="2336038" y="0"/>
                  </a:lnTo>
                  <a:lnTo>
                    <a:pt x="233603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2" t="0" r="-151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603512" y="7743825"/>
            <a:ext cx="1612925" cy="600075"/>
            <a:chOff x="0" y="0"/>
            <a:chExt cx="2150567" cy="8001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150618" cy="800100"/>
            </a:xfrm>
            <a:custGeom>
              <a:avLst/>
              <a:gdLst/>
              <a:ahLst/>
              <a:cxnLst/>
              <a:rect r="r" b="b" t="t" l="l"/>
              <a:pathLst>
                <a:path h="800100" w="2150618">
                  <a:moveTo>
                    <a:pt x="0" y="0"/>
                  </a:moveTo>
                  <a:lnTo>
                    <a:pt x="2150618" y="0"/>
                  </a:lnTo>
                  <a:lnTo>
                    <a:pt x="2150618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8" t="0" r="-46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00100" y="1509712"/>
            <a:ext cx="1748790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Research &amp; Prior Art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2257425"/>
            <a:ext cx="8143875" cy="1957388"/>
            <a:chOff x="0" y="0"/>
            <a:chExt cx="10858500" cy="2609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58500" cy="2609850"/>
            </a:xfrm>
            <a:custGeom>
              <a:avLst/>
              <a:gdLst/>
              <a:ahLst/>
              <a:cxnLst/>
              <a:rect r="r" b="b" t="t" l="l"/>
              <a:pathLst>
                <a:path h="26098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2609850"/>
                  </a:lnTo>
                  <a:lnTo>
                    <a:pt x="0" y="260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443412"/>
            <a:ext cx="8143875" cy="3557588"/>
            <a:chOff x="0" y="0"/>
            <a:chExt cx="10858500" cy="4743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58500" cy="4743450"/>
            </a:xfrm>
            <a:custGeom>
              <a:avLst/>
              <a:gdLst/>
              <a:ahLst/>
              <a:cxnLst/>
              <a:rect r="r" b="b" t="t" l="l"/>
              <a:pathLst>
                <a:path h="4743450" w="10858500">
                  <a:moveTo>
                    <a:pt x="0" y="0"/>
                  </a:moveTo>
                  <a:lnTo>
                    <a:pt x="10858500" y="0"/>
                  </a:lnTo>
                  <a:lnTo>
                    <a:pt x="10858500" y="4743450"/>
                  </a:lnTo>
                  <a:lnTo>
                    <a:pt x="0" y="474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14375" y="1281112"/>
            <a:ext cx="8551069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Proposed Approach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29750" y="0"/>
            <a:ext cx="8858250" cy="10287000"/>
            <a:chOff x="0" y="0"/>
            <a:chExt cx="11811000" cy="13716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181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375" y="6191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22269" y="626421"/>
            <a:ext cx="2135981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4462" y="2547937"/>
            <a:ext cx="25745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Solution Concept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412" y="2995613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A 4-Lane Discrete-Tick Cascade Simulator deployed with PostgreSQL, Python Engine, and React Frontend.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462" y="4695825"/>
            <a:ext cx="461382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Major Components &amp; Workflow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4412" y="2600325"/>
            <a:ext cx="214312" cy="285750"/>
            <a:chOff x="0" y="0"/>
            <a:chExt cx="28575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4412" y="4786312"/>
            <a:ext cx="257175" cy="285750"/>
            <a:chOff x="0" y="0"/>
            <a:chExt cx="34290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14462" y="5181600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Data Model (Lane 1): PostgreSQL-backed, mutable Scenario and Recovery models loaded into memory at start.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462" y="5995987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Propagation Engine (Lane 2): Pure Python, stateless discrete-tick loop capturing immutable snapshots.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462" y="6810375"/>
            <a:ext cx="714375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Metrics &amp; Frontend (Lanes 3/4): Computes cascade depth, hop depth, and animates system state chronologically.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4412" y="5286375"/>
            <a:ext cx="114300" cy="185738"/>
            <a:chOff x="0" y="0"/>
            <a:chExt cx="152400" cy="2476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412" y="6100762"/>
            <a:ext cx="114300" cy="185738"/>
            <a:chOff x="0" y="0"/>
            <a:chExt cx="152400" cy="2476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4412" y="6915150"/>
            <a:ext cx="114300" cy="185738"/>
            <a:chOff x="0" y="0"/>
            <a:chExt cx="15240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771900"/>
            <a:ext cx="8347979" cy="4641010"/>
            <a:chOff x="0" y="0"/>
            <a:chExt cx="10896600" cy="6057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8966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8344" y="3771900"/>
            <a:ext cx="8347979" cy="4641010"/>
            <a:chOff x="0" y="0"/>
            <a:chExt cx="10896600" cy="6057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8966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602" y="4117709"/>
            <a:ext cx="3495656" cy="39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50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Technical 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1846" y="4117709"/>
            <a:ext cx="3160441" cy="39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50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Security &amp; Data Flow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4959" y="4180542"/>
            <a:ext cx="335670" cy="291887"/>
            <a:chOff x="0" y="0"/>
            <a:chExt cx="43815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73602" y="4653859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Storage Layer: PostgreSQL with psycopg2, maintaining scenarios, nodes, edges, and recovery actions.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602" y="5485738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Simulation Engine: Evaluates impact = Σ(edge.weight × (1 - upstream.capacity)). Fails if impact &gt; threshold.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3602" y="6317617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Cross-Lane Contract: Lane 2 passes immutable SimulationResult (TickSnapshots + StateChangeEvents) to Lane 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3602" y="7149496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Analytics: Lane 4 calculates recovery_time, affected_services, and peak_impact for the Lovable React frontend.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63203" y="4180542"/>
            <a:ext cx="291887" cy="291887"/>
            <a:chOff x="0" y="0"/>
            <a:chExt cx="38100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71846" y="4653859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Settlement Detection: The engine halts exactly when a tick produces no state changes and no pending recoveries remain.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71846" y="5485738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  <a:r>
              <a:t>Robust Testing: 27/27 automated unit tests covering hand-traced multi-hop cascades and cross-lane validation.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1846" y="6317617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71846" y="7149496"/>
            <a:ext cx="7209619" cy="7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00100" y="2085975"/>
            <a:ext cx="521836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42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4959" y="4749723"/>
            <a:ext cx="116755" cy="189727"/>
            <a:chOff x="0" y="0"/>
            <a:chExt cx="152400" cy="2476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959" y="5581602"/>
            <a:ext cx="116755" cy="189727"/>
            <a:chOff x="0" y="0"/>
            <a:chExt cx="152400" cy="2476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4959" y="6413481"/>
            <a:ext cx="116755" cy="189727"/>
            <a:chOff x="0" y="0"/>
            <a:chExt cx="152400" cy="2476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4959" y="7245360"/>
            <a:ext cx="116755" cy="189727"/>
            <a:chOff x="0" y="0"/>
            <a:chExt cx="152400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63203" y="4749723"/>
            <a:ext cx="116755" cy="189727"/>
            <a:chOff x="0" y="0"/>
            <a:chExt cx="152400" cy="2476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63203" y="5581602"/>
            <a:ext cx="116755" cy="189727"/>
            <a:chOff x="0" y="0"/>
            <a:chExt cx="152400" cy="2476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63203" y="6413481"/>
            <a:ext cx="116755" cy="189727"/>
            <a:chOff x="0" y="0"/>
            <a:chExt cx="152400" cy="2476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63203" y="7245360"/>
            <a:ext cx="116755" cy="189727"/>
            <a:chOff x="0" y="0"/>
            <a:chExt cx="15240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52400" cy="247650"/>
            </a:xfrm>
            <a:custGeom>
              <a:avLst/>
              <a:gdLst/>
              <a:ahLst/>
              <a:cxnLst/>
              <a:rect r="r" b="b" t="t" l="l"/>
              <a:pathLst>
                <a:path h="2476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818334"/>
            <a:ext cx="5372100" cy="1857375"/>
            <a:chOff x="0" y="0"/>
            <a:chExt cx="7162800" cy="2476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7950" y="3818334"/>
            <a:ext cx="5372100" cy="1857375"/>
            <a:chOff x="0" y="0"/>
            <a:chExt cx="7162800" cy="2476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800" y="3818334"/>
            <a:ext cx="5372100" cy="1857375"/>
            <a:chOff x="0" y="0"/>
            <a:chExt cx="7162800" cy="2476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628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" r="0" b="-38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00100" y="5961459"/>
            <a:ext cx="8172450" cy="2307431"/>
            <a:chOff x="0" y="0"/>
            <a:chExt cx="10896600" cy="307657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896600" cy="3076575"/>
            </a:xfrm>
            <a:custGeom>
              <a:avLst/>
              <a:gdLst/>
              <a:ahLst/>
              <a:cxnLst/>
              <a:rect r="r" b="b" t="t" l="l"/>
              <a:pathLst>
                <a:path h="307657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76575"/>
                  </a:lnTo>
                  <a:lnTo>
                    <a:pt x="0" y="3076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4" r="0" b="-15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15450" y="5961459"/>
            <a:ext cx="8172450" cy="2307431"/>
            <a:chOff x="0" y="0"/>
            <a:chExt cx="10896600" cy="30765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896600" cy="3076575"/>
            </a:xfrm>
            <a:custGeom>
              <a:avLst/>
              <a:gdLst/>
              <a:ahLst/>
              <a:cxnLst/>
              <a:rect r="r" b="b" t="t" l="l"/>
              <a:pathLst>
                <a:path h="3076575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76575"/>
                  </a:lnTo>
                  <a:lnTo>
                    <a:pt x="0" y="3076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4" r="0" b="-15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t>27/27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728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t>AUTOMATED TESTS PASSING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1513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1513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t>DETERMINISTIC ACCURACY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2988" y="4261247"/>
            <a:ext cx="46577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2988" y="5051822"/>
            <a:ext cx="46577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t>ISOLATED ARCHITECTURE LANES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3317" y="6309122"/>
            <a:ext cx="236755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Core 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7288" y="6756797"/>
            <a:ext cx="7458075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What is genuinely different? Our architecture strictly isolates the database (Lane 1) from the simulation logic (Lane 2), communicating solely through frozen data contracts.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4138" y="6309122"/>
            <a:ext cx="25407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Technical Insight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2638" y="6756797"/>
            <a:ext cx="7458075" cy="10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By utilizing a discrete-tick engine with pre-tick capacity freezing, the simulation guarantees order-independent propagation and reproducible cascade timelines.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57288" y="6361509"/>
            <a:ext cx="328612" cy="285750"/>
            <a:chOff x="0" y="0"/>
            <a:chExt cx="438150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72638" y="6361509"/>
            <a:ext cx="285750" cy="285750"/>
            <a:chOff x="0" y="0"/>
            <a:chExt cx="3810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72716" y="2037159"/>
            <a:ext cx="48839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Innovation &amp; Impact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114675"/>
            <a:ext cx="8201025" cy="2786062"/>
            <a:chOff x="0" y="0"/>
            <a:chExt cx="10934700" cy="3714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86875" y="3114675"/>
            <a:ext cx="8201025" cy="2786062"/>
            <a:chOff x="0" y="0"/>
            <a:chExt cx="10934700" cy="3714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6186488"/>
            <a:ext cx="8201025" cy="2786062"/>
            <a:chOff x="0" y="0"/>
            <a:chExt cx="10934700" cy="3714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6875" y="6186488"/>
            <a:ext cx="8201025" cy="2786062"/>
            <a:chOff x="0" y="0"/>
            <a:chExt cx="10934700" cy="37147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93470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934700">
                  <a:moveTo>
                    <a:pt x="0" y="0"/>
                  </a:moveTo>
                  <a:lnTo>
                    <a:pt x="10934700" y="0"/>
                  </a:lnTo>
                  <a:lnTo>
                    <a:pt x="1093470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8712" y="3443288"/>
            <a:ext cx="685800" cy="685800"/>
            <a:chOff x="0" y="0"/>
            <a:chExt cx="9144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28712" y="4291013"/>
            <a:ext cx="29735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Target Beneficiaries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712" y="4738687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Urban resilience planners, disaster response coordinators, and civil infrastructure engineers.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15488" y="3443288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15488" y="4291013"/>
            <a:ext cx="311140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Deployment 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5488" y="4738687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Deployable as a standard Python/PostgreSQL backend with a modern React visualization dashboard.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8712" y="6515100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8712" y="7362825"/>
            <a:ext cx="30252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Measurable Benefits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" y="7810500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Enables rapid wargaming of infrastructure vulnerabilities, reducing response times and improving urban resilience against cascading blackouts.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15488" y="6515100"/>
            <a:ext cx="685800" cy="685800"/>
            <a:chOff x="0" y="0"/>
            <a:chExt cx="91440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15488" y="7362825"/>
            <a:ext cx="385375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Moving Beyond Prototype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15488" y="7810500"/>
            <a:ext cx="7543800" cy="70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t>Integrating real-time GIS data, expanding to stochastic (probabilistic) failure models, and deploying to cloud infrastructure.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35869" y="3600450"/>
            <a:ext cx="471488" cy="371475"/>
            <a:chOff x="0" y="0"/>
            <a:chExt cx="628650" cy="4953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628650" cy="495300"/>
            </a:xfrm>
            <a:custGeom>
              <a:avLst/>
              <a:gdLst/>
              <a:ahLst/>
              <a:cxnLst/>
              <a:rect r="r" b="b" t="t" l="l"/>
              <a:pathLst>
                <a:path h="4953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515" t="0" r="-1515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2650" y="3600450"/>
            <a:ext cx="371475" cy="371475"/>
            <a:chOff x="0" y="0"/>
            <a:chExt cx="495300" cy="4953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875" y="6672262"/>
            <a:ext cx="371475" cy="371475"/>
            <a:chOff x="0" y="0"/>
            <a:chExt cx="495300" cy="4953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72650" y="6672262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00100" y="1897856"/>
            <a:ext cx="590669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Deployment &amp;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3968353"/>
            <a:ext cx="16687800" cy="4150519"/>
            <a:chOff x="0" y="0"/>
            <a:chExt cx="22250400" cy="55340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250400" cy="5534025"/>
            </a:xfrm>
            <a:custGeom>
              <a:avLst/>
              <a:gdLst/>
              <a:ahLst/>
              <a:cxnLst/>
              <a:rect r="r" b="b" t="t" l="l"/>
              <a:pathLst>
                <a:path h="5534025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5534025"/>
                  </a:lnTo>
                  <a:lnTo>
                    <a:pt x="0" y="5534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8" r="0" b="-25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00100" y="733425"/>
            <a:ext cx="24145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47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16062" y="740721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96286" y="3982640"/>
          <a:ext cx="17337525" cy="4676120"/>
        </p:xfrm>
        <a:graphic>
          <a:graphicData uri="http://schemas.openxmlformats.org/drawingml/2006/table">
            <a:tbl>
              <a:tblPr/>
              <a:tblGrid>
                <a:gridCol w="3053071"/>
                <a:gridCol w="7861643"/>
                <a:gridCol w="6422811"/>
              </a:tblGrid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Category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Reference Source / Technology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4"/>
                        </a:lnSpc>
                        <a:defRPr/>
                      </a:pPr>
                      <a:r>
                        <a:rPr lang="en-US" sz="1762" b="true">
                          <a:solidFill>
                            <a:srgbClr val="F7F4E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Utilization in Project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Research Papers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"Multivariate Time-Series Anomaly Detection via Graph Neural Networks" (AAAI 2021)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Inspiration for spatio-temporal graph attention mechanics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Open-Source Frameworks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PyTorch Geometric (PyG), ONNX Runtime, C++ gRPC Core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Graph neural network training &amp; high-speed edge inference engine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935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Industry Standards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OPC-UA Telemetry Spec &amp; IEEE 1451 Smart Sensor Architecture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Data ingestion normalization and industrial protocol mapping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 b="true">
                          <a:solidFill>
                            <a:srgbClr val="2D374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Benchmark Datasets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SWaT (Secure Water Treatment) &amp; WADI Industrial Testbeds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9"/>
                        </a:lnSpc>
                        <a:defRPr/>
                      </a:pPr>
                      <a:r>
                        <a:rPr lang="en-US" sz="1874">
                          <a:solidFill>
                            <a:srgbClr val="2D374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training, validation, and multi-sensor drift simulation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4388" y="5654278"/>
            <a:ext cx="2933624" cy="14288"/>
            <a:chOff x="0" y="0"/>
            <a:chExt cx="3911498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48011" y="5654278"/>
            <a:ext cx="7554068" cy="14288"/>
            <a:chOff x="0" y="0"/>
            <a:chExt cx="10072091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02079" y="5654278"/>
            <a:ext cx="6171533" cy="14288"/>
            <a:chOff x="0" y="0"/>
            <a:chExt cx="8228711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14388" y="6668691"/>
            <a:ext cx="2933624" cy="14288"/>
            <a:chOff x="0" y="0"/>
            <a:chExt cx="3911498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48011" y="6668691"/>
            <a:ext cx="7554068" cy="14288"/>
            <a:chOff x="0" y="0"/>
            <a:chExt cx="10072091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302079" y="6668691"/>
            <a:ext cx="6171533" cy="14288"/>
            <a:chOff x="0" y="0"/>
            <a:chExt cx="8228711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14388" y="7383066"/>
            <a:ext cx="2933624" cy="14288"/>
            <a:chOff x="0" y="0"/>
            <a:chExt cx="3911498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11473" cy="19050"/>
            </a:xfrm>
            <a:custGeom>
              <a:avLst/>
              <a:gdLst/>
              <a:ahLst/>
              <a:cxnLst/>
              <a:rect r="r" b="b" t="t" l="l"/>
              <a:pathLst>
                <a:path h="19050" w="3911473">
                  <a:moveTo>
                    <a:pt x="0" y="0"/>
                  </a:moveTo>
                  <a:lnTo>
                    <a:pt x="3911473" y="0"/>
                  </a:lnTo>
                  <a:lnTo>
                    <a:pt x="39114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748011" y="7383066"/>
            <a:ext cx="7554068" cy="14288"/>
            <a:chOff x="0" y="0"/>
            <a:chExt cx="10072091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2116" cy="19050"/>
            </a:xfrm>
            <a:custGeom>
              <a:avLst/>
              <a:gdLst/>
              <a:ahLst/>
              <a:cxnLst/>
              <a:rect r="r" b="b" t="t" l="l"/>
              <a:pathLst>
                <a:path h="19050" w="10072116">
                  <a:moveTo>
                    <a:pt x="0" y="0"/>
                  </a:moveTo>
                  <a:lnTo>
                    <a:pt x="10072116" y="0"/>
                  </a:lnTo>
                  <a:lnTo>
                    <a:pt x="100721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02079" y="7383066"/>
            <a:ext cx="6171533" cy="14288"/>
            <a:chOff x="0" y="0"/>
            <a:chExt cx="8228711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8711" cy="19050"/>
            </a:xfrm>
            <a:custGeom>
              <a:avLst/>
              <a:gdLst/>
              <a:ahLst/>
              <a:cxnLst/>
              <a:rect r="r" b="b" t="t" l="l"/>
              <a:pathLst>
                <a:path h="19050" w="8228711">
                  <a:moveTo>
                    <a:pt x="0" y="0"/>
                  </a:moveTo>
                  <a:lnTo>
                    <a:pt x="8228711" y="0"/>
                  </a:lnTo>
                  <a:lnTo>
                    <a:pt x="82287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DDD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84026" y="2158008"/>
            <a:ext cx="525527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Technical References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000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0" y="3321844"/>
            <a:ext cx="11430000" cy="4543425"/>
            <a:chOff x="0" y="0"/>
            <a:chExt cx="15240000" cy="6057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240000" cy="6057900"/>
            </a:xfrm>
            <a:custGeom>
              <a:avLst/>
              <a:gdLst/>
              <a:ahLst/>
              <a:cxnLst/>
              <a:rect r="r" b="b" t="t" l="l"/>
              <a:pathLst>
                <a:path h="60579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6057900"/>
                  </a:lnTo>
                  <a:lnTo>
                    <a:pt x="0" y="605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" r="0" b="-15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29088" y="6607969"/>
            <a:ext cx="10029825" cy="557212"/>
            <a:chOff x="0" y="0"/>
            <a:chExt cx="13373100" cy="7429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373100" cy="742950"/>
            </a:xfrm>
            <a:custGeom>
              <a:avLst/>
              <a:gdLst/>
              <a:ahLst/>
              <a:cxnLst/>
              <a:rect r="r" b="b" t="t" l="l"/>
              <a:pathLst>
                <a:path h="742950" w="13373100">
                  <a:moveTo>
                    <a:pt x="0" y="0"/>
                  </a:moveTo>
                  <a:lnTo>
                    <a:pt x="13373100" y="0"/>
                  </a:lnTo>
                  <a:lnTo>
                    <a:pt x="133731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6" r="0" b="-113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100" y="742950"/>
            <a:ext cx="3943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925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FORGE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6062" y="769296"/>
            <a:ext cx="3271838" cy="2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462" b="true">
                <a:solidFill>
                  <a:srgbClr val="5C248B"/>
                </a:solidFill>
                <a:latin typeface="Arimo Bold"/>
                <a:ea typeface="Arimo Bold"/>
                <a:cs typeface="Arimo Bold"/>
                <a:sym typeface="Arimo Bold"/>
              </a:rPr>
              <a:t>G H RAISONI SKILLTECH UNIVERSITY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78342" y="4031456"/>
            <a:ext cx="1053131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6499">
                <a:solidFill>
                  <a:srgbClr val="11111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9088" y="5188744"/>
            <a:ext cx="10029825" cy="41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2224">
                <a:solidFill>
                  <a:srgbClr val="5C248B"/>
                </a:solidFill>
                <a:latin typeface="Arimo"/>
                <a:ea typeface="Arimo"/>
                <a:cs typeface="Arimo"/>
                <a:sym typeface="Arimo"/>
              </a:rPr>
              <a:t>Ready for Questions &amp;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7019" y="5974556"/>
            <a:ext cx="503396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887" b="true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Team Smasherz | Problem Code: CF-26 S-03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28441" y="6922294"/>
            <a:ext cx="1889941" cy="359049"/>
            <a:chOff x="0" y="0"/>
            <a:chExt cx="2519922" cy="4787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19922" cy="478732"/>
            </a:xfrm>
            <a:custGeom>
              <a:avLst/>
              <a:gdLst/>
              <a:ahLst/>
              <a:cxnLst/>
              <a:rect r="r" b="b" t="t" l="l"/>
              <a:pathLst>
                <a:path h="478732" w="2519922">
                  <a:moveTo>
                    <a:pt x="0" y="0"/>
                  </a:moveTo>
                  <a:lnTo>
                    <a:pt x="2519922" y="0"/>
                  </a:lnTo>
                  <a:lnTo>
                    <a:pt x="2519922" y="478732"/>
                  </a:lnTo>
                  <a:lnTo>
                    <a:pt x="0" y="4787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577" r="13818" b="-242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519922" cy="497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9"/>
                </a:lnSpc>
              </a:pPr>
              <a:r>
                <a:rPr lang="en-US" sz="1774" b="true">
                  <a:solidFill>
                    <a:srgbClr val="4A556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GHRCEM Nagpur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70697" y="6908006"/>
            <a:ext cx="286637" cy="286637"/>
            <a:chOff x="0" y="0"/>
            <a:chExt cx="266700" cy="266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71" t="0" r="-357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25678" y="6936581"/>
            <a:ext cx="202763" cy="258062"/>
            <a:chOff x="0" y="0"/>
            <a:chExt cx="20955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545" t="0" r="-4545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553493" y="6850062"/>
            <a:ext cx="1957685" cy="35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1887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github.com/tushartiple24/CF26-S03-Smasherz"/>
              </a:rPr>
              <a:t>GitHub</a:t>
            </a:r>
            <a:r>
              <a:rPr lang="en-US" sz="18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DAHTRjJN4BU</dc:identifier>
  <dcterms:modified xsi:type="dcterms:W3CDTF">2011-08-01T06:04:30Z</dcterms:modified>
  <cp:revision>1</cp:revision>
  <dc:title>Code Forge Pitch Deck.pptx</dc:title>
</cp:coreProperties>
</file>