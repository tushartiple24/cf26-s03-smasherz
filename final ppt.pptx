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layfair Display" charset="1" panose="00000000000000000000"/>
      <p:regular r:id="rId16"/>
    </p:embeddedFon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2" Target="../media/image10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2" Target="../media/image10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17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jpe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https://github.com/tushartiple24/CF26-S03-Smasherz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977528"/>
            <a:ext cx="16687800" cy="1511570"/>
            <a:chOff x="0" y="0"/>
            <a:chExt cx="22250400" cy="201542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2015490"/>
            </a:xfrm>
            <a:custGeom>
              <a:avLst/>
              <a:gdLst/>
              <a:ahLst/>
              <a:cxnLst/>
              <a:rect r="r" b="b" t="t" l="l"/>
              <a:pathLst>
                <a:path h="201549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015490"/>
                  </a:lnTo>
                  <a:lnTo>
                    <a:pt x="0" y="2015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68" r="0" b="-5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01450" y="2411682"/>
            <a:ext cx="5886450" cy="1128712"/>
            <a:chOff x="0" y="0"/>
            <a:chExt cx="7848600" cy="1504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848600" cy="1504950"/>
            </a:xfrm>
            <a:custGeom>
              <a:avLst/>
              <a:gdLst/>
              <a:ahLst/>
              <a:cxnLst/>
              <a:rect r="r" b="b" t="t" l="l"/>
              <a:pathLst>
                <a:path h="150495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1504950"/>
                  </a:lnTo>
                  <a:lnTo>
                    <a:pt x="0" y="150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2" r="0" b="-6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8386315"/>
            <a:ext cx="4000500" cy="1334946"/>
            <a:chOff x="0" y="0"/>
            <a:chExt cx="5334000" cy="177992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783" t="0" r="-207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29200" y="8386315"/>
            <a:ext cx="4000500" cy="1334946"/>
            <a:chOff x="0" y="0"/>
            <a:chExt cx="5334000" cy="177992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783" t="0" r="-2078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8386315"/>
            <a:ext cx="4000500" cy="1334946"/>
            <a:chOff x="0" y="0"/>
            <a:chExt cx="5334000" cy="177992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783" t="0" r="-2078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87400" y="8386315"/>
            <a:ext cx="4406759" cy="1334946"/>
            <a:chOff x="0" y="0"/>
            <a:chExt cx="5875679" cy="1779929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875679" cy="1779929"/>
            </a:xfrm>
            <a:custGeom>
              <a:avLst/>
              <a:gdLst/>
              <a:ahLst/>
              <a:cxnLst/>
              <a:rect r="r" b="b" t="t" l="l"/>
              <a:pathLst>
                <a:path h="1779929" w="5875679">
                  <a:moveTo>
                    <a:pt x="0" y="0"/>
                  </a:moveTo>
                  <a:lnTo>
                    <a:pt x="5875679" y="0"/>
                  </a:lnTo>
                  <a:lnTo>
                    <a:pt x="5875679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258" t="0" r="-1425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0100" y="1028700"/>
            <a:ext cx="29860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588" y="6325191"/>
            <a:ext cx="157448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C0944F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TITLE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9489" y="6685688"/>
            <a:ext cx="7039421" cy="48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</a:pPr>
            <a:r>
              <a:rPr lang="en-US" sz="29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Urba</a:t>
            </a:r>
            <a:r>
              <a:rPr lang="en-US" sz="29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n Infrastructure Cascade Simulator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0100" y="2630757"/>
            <a:ext cx="4357688" cy="200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92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</a:t>
            </a:r>
          </a:p>
          <a:p>
            <a:pPr algn="l">
              <a:lnSpc>
                <a:spcPts val="8763"/>
              </a:lnSpc>
            </a:pPr>
            <a:r>
              <a:rPr lang="en-US" sz="92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1594" y="4840857"/>
            <a:ext cx="34790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HACKATHON 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5788" y="2635520"/>
            <a:ext cx="5114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8A611D"/>
                </a:solidFill>
                <a:latin typeface="Arimo Bold"/>
                <a:ea typeface="Arimo Bold"/>
                <a:cs typeface="Arimo Bold"/>
                <a:sym typeface="Arimo Bold"/>
              </a:rPr>
              <a:t>OFFICIAL TEMPLATE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15788" y="2906982"/>
            <a:ext cx="51149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Department of Science &amp; Technology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1594" y="8610152"/>
            <a:ext cx="11049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TEAM NAME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07419" y="8972102"/>
            <a:ext cx="12446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Smasherz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95925" y="8595865"/>
            <a:ext cx="14902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PROBLEM CODE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75487" y="9025213"/>
            <a:ext cx="150792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CF-2026-S-03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2175" y="8595865"/>
            <a:ext cx="150033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TEAM MEMBERS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88341" y="8934002"/>
            <a:ext cx="35404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Tushar Tiple, Smit Patil, Atharva Trinagriwar, Yugal Kalaskar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00485" y="8531571"/>
            <a:ext cx="114553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INSTITUTION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6000" y="8887101"/>
            <a:ext cx="40911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St.Vincent Palloti College of Engineering and Technology, Nagpur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16062" y="976465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16062" y="1171204"/>
            <a:ext cx="3271838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85"/>
              </a:lnSpc>
            </a:pPr>
            <a:r>
              <a:rPr lang="en-US" sz="1237">
                <a:solidFill>
                  <a:srgbClr val="C0944F"/>
                </a:solidFill>
                <a:latin typeface="Arimo"/>
                <a:ea typeface="Arimo"/>
                <a:cs typeface="Arimo"/>
                <a:sym typeface="Arimo"/>
              </a:rPr>
              <a:t>NAGPUR, MAHARASHTRA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78057" y="8629202"/>
            <a:ext cx="207818" cy="152400"/>
            <a:chOff x="0" y="0"/>
            <a:chExt cx="285750" cy="2095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85750" cy="209550"/>
            </a:xfrm>
            <a:custGeom>
              <a:avLst/>
              <a:gdLst/>
              <a:ahLst/>
              <a:cxnLst/>
              <a:rect r="r" b="b" t="t" l="l"/>
              <a:pathLst>
                <a:path h="2095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545" r="0" b="-45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00662" y="8629202"/>
            <a:ext cx="157162" cy="157162"/>
            <a:chOff x="0" y="0"/>
            <a:chExt cx="209550" cy="2095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545" r="0" b="-454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34525" y="8603009"/>
            <a:ext cx="214312" cy="157162"/>
            <a:chOff x="0" y="0"/>
            <a:chExt cx="285750" cy="2095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85750" cy="209550"/>
            </a:xfrm>
            <a:custGeom>
              <a:avLst/>
              <a:gdLst/>
              <a:ahLst/>
              <a:cxnLst/>
              <a:rect r="r" b="b" t="t" l="l"/>
              <a:pathLst>
                <a:path h="2095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545" r="0" b="-454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63625" y="8576815"/>
            <a:ext cx="171450" cy="157162"/>
            <a:chOff x="0" y="0"/>
            <a:chExt cx="228600" cy="2095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28600" cy="209550"/>
            </a:xfrm>
            <a:custGeom>
              <a:avLst/>
              <a:gdLst/>
              <a:ahLst/>
              <a:cxnLst/>
              <a:rect r="r" b="b" t="t" l="l"/>
              <a:pathLst>
                <a:path h="2095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545" r="0" b="-454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9272588"/>
            <a:ext cx="16687800" cy="1121569"/>
            <a:chOff x="0" y="0"/>
            <a:chExt cx="22250400" cy="14954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1495425"/>
            </a:xfrm>
            <a:custGeom>
              <a:avLst/>
              <a:gdLst/>
              <a:ahLst/>
              <a:cxnLst/>
              <a:rect r="r" b="b" t="t" l="l"/>
              <a:pathLst>
                <a:path h="149542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495425"/>
                  </a:lnTo>
                  <a:lnTo>
                    <a:pt x="0" y="149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8" r="0" b="-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2486025"/>
            <a:ext cx="8201025" cy="3107531"/>
            <a:chOff x="0" y="0"/>
            <a:chExt cx="10934700" cy="41433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" r="0" b="-11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2486025"/>
            <a:ext cx="8201025" cy="3107531"/>
            <a:chOff x="0" y="0"/>
            <a:chExt cx="10934700" cy="414337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4" r="0" b="-1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0100" y="5879306"/>
            <a:ext cx="8201025" cy="3107531"/>
            <a:chOff x="0" y="0"/>
            <a:chExt cx="10934700" cy="414337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4" r="0" b="-1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6875" y="5879306"/>
            <a:ext cx="8201025" cy="3107531"/>
            <a:chOff x="0" y="0"/>
            <a:chExt cx="10934700" cy="41433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4" r="0" b="-11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8262" y="9520237"/>
            <a:ext cx="158067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C0944F"/>
                </a:solidFill>
                <a:latin typeface="Arimo Bold"/>
                <a:ea typeface="Arimo Bold"/>
                <a:cs typeface="Arimo Bold"/>
                <a:sym typeface="Arimo Bold"/>
              </a:rPr>
              <a:t>ONE CLEAR 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38" y="9748837"/>
            <a:ext cx="15930562" cy="3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1787">
                <a:solidFill>
                  <a:srgbClr val="F7F4EE"/>
                </a:solidFill>
                <a:latin typeface="Arimo"/>
                <a:ea typeface="Arimo"/>
                <a:cs typeface="Arimo"/>
                <a:sym typeface="Arimo"/>
              </a:rPr>
              <a:t>"How to construct an ultra-low-latency, self-adapting anomaly detection pipeline at the edge that eliminates false alerts without manual threshold tuning."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8712" y="2814638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8712" y="3652838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In Our Own Words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8712" y="4110038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Industrial IoT networks generate high-velocity telemetry, but current monitoring systems fail to spot multi-sensor drift until catastrophic hardware failure occurs.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15488" y="2814638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15488" y="3652838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Real-World Context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15488" y="4110038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Modern automated factories process over 50,000 telemetry readings per second across distributed plant equipment with zero tolerance for unscheduled downtime.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28712" y="6207919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28712" y="70461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Who Is Affected?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8712" y="75033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Plant reliability engineers, SCADA operators, and industrial maintenance managers who spend hours investigating false alarms and diagnosing latent equipment faults.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15488" y="6207919"/>
            <a:ext cx="685800" cy="685800"/>
            <a:chOff x="0" y="0"/>
            <a:chExt cx="914400" cy="9144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15488" y="70461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Existing Limitations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15488" y="75033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Traditional static threshold alerts produce up to 65% false positives, while cloud-only AI incurs high network latency and exorbitant bandwidth costs.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4438" y="9558338"/>
            <a:ext cx="185738" cy="171450"/>
            <a:chOff x="0" y="0"/>
            <a:chExt cx="247650" cy="2286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47650" cy="228600"/>
            </a:xfrm>
            <a:custGeom>
              <a:avLst/>
              <a:gdLst/>
              <a:ahLst/>
              <a:cxnLst/>
              <a:rect r="r" b="b" t="t" l="l"/>
              <a:pathLst>
                <a:path h="2286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5875" y="2971800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72650" y="2971800"/>
            <a:ext cx="371475" cy="371475"/>
            <a:chOff x="0" y="0"/>
            <a:chExt cx="495300" cy="4953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5869" y="6365081"/>
            <a:ext cx="471488" cy="371475"/>
            <a:chOff x="0" y="0"/>
            <a:chExt cx="628650" cy="4953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628650" cy="495300"/>
            </a:xfrm>
            <a:custGeom>
              <a:avLst/>
              <a:gdLst/>
              <a:ahLst/>
              <a:cxnLst/>
              <a:rect r="r" b="b" t="t" l="l"/>
              <a:pathLst>
                <a:path h="4953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94" r="0" b="-39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72650" y="6365081"/>
            <a:ext cx="371475" cy="371475"/>
            <a:chOff x="0" y="0"/>
            <a:chExt cx="495300" cy="4953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923" r="0" b="-192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00100" y="1509712"/>
            <a:ext cx="309547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2750344"/>
            <a:ext cx="8201025" cy="3150394"/>
            <a:chOff x="0" y="0"/>
            <a:chExt cx="10934700" cy="42005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3" r="0" b="-11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75" y="2750344"/>
            <a:ext cx="8201025" cy="3150394"/>
            <a:chOff x="0" y="0"/>
            <a:chExt cx="10934700" cy="42005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" r="0" b="-11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6186488"/>
            <a:ext cx="8201025" cy="3150394"/>
            <a:chOff x="0" y="0"/>
            <a:chExt cx="10934700" cy="420052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" r="0" b="-11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6875" y="6186488"/>
            <a:ext cx="8201025" cy="3150394"/>
            <a:chOff x="0" y="0"/>
            <a:chExt cx="10934700" cy="420052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" r="0" b="-1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712" y="3121819"/>
            <a:ext cx="685800" cy="685800"/>
            <a:chOff x="0" y="0"/>
            <a:chExt cx="9144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28712" y="39600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Core Technical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712" y="44172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Modeling complex non-linear spatio-temporal correlations between dynamic multi-variable sensors under non-stationary industrial operating conditions.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15488" y="3121819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41" r="0" b="-104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15488" y="39600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Key Assumptions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488" y="44172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High-frequency sensor streams are delivered via standard MQTT/gRPC protocols with sub-50ms transmission budget and minimal packet drop.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8712" y="6557962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8712" y="7396162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Known Constraints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" y="7853362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Must run seamlessly on resource-constrained Edge IPC hardware (ARM64 / Jetson Nano) within a strict 512MB RAM and sub-15ms inference window.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15488" y="6557962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15488" y="7396162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Edge Cases &amp; Complexity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15488" y="7853362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Handling transient sensor dropouts, intentional physical load spikes, dynamic baseline shifts, and out-of-distribution environmental disturbances.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5875" y="3278981"/>
            <a:ext cx="371475" cy="371475"/>
            <a:chOff x="0" y="0"/>
            <a:chExt cx="495300" cy="4953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2650" y="3278981"/>
            <a:ext cx="371475" cy="371475"/>
            <a:chOff x="0" y="0"/>
            <a:chExt cx="495300" cy="4953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" r="0" b="-192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875" y="6715125"/>
            <a:ext cx="371475" cy="371475"/>
            <a:chOff x="0" y="0"/>
            <a:chExt cx="495300" cy="4953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72650" y="6715125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923" r="0" b="-192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00100" y="1509712"/>
            <a:ext cx="1748790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Problem Decomposition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529012"/>
            <a:ext cx="16687800" cy="5029200"/>
            <a:chOff x="0" y="0"/>
            <a:chExt cx="22250400" cy="6705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6705600"/>
            </a:xfrm>
            <a:custGeom>
              <a:avLst/>
              <a:gdLst/>
              <a:ahLst/>
              <a:cxnLst/>
              <a:rect r="r" b="b" t="t" l="l"/>
              <a:pathLst>
                <a:path h="67056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38200" y="3543300"/>
          <a:ext cx="16649700" cy="4953000"/>
        </p:xfrm>
        <a:graphic>
          <a:graphicData uri="http://schemas.openxmlformats.org/drawingml/2006/table">
            <a:tbl>
              <a:tblPr/>
              <a:tblGrid>
                <a:gridCol w="2259874"/>
                <a:gridCol w="3497774"/>
                <a:gridCol w="4300706"/>
                <a:gridCol w="4432042"/>
                <a:gridCol w="2159303"/>
              </a:tblGrid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Approach / System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Core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Strengths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Where It Fails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Our Identified </a:t>
                      </a:r>
                      <a:endParaRPr lang="en-US" sz="1100"/>
                    </a:p>
                    <a:p>
                      <a:pPr algn="ctr">
                        <a:lnSpc>
                          <a:spcPts val="2114"/>
                        </a:lnSpc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Gap</a:t>
                      </a:r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Rule-Based Thresholds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Static Min/Max Limits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Zero compute overhead, instant setup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Incapable of capturing inter-sensor dynamics; high false alarms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Classic LSTM-AE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Reconstruction Error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Detects temporal sequential drift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computational latency; fails to capture spatial graph topology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Cloud Transformer AI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Attention Layers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precision on complex data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constant cloud connectivity, high bandwidth &amp; cost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Neural Nets + Dynamic Scoring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Captures joint spatial-temporal interplay at low compute footprint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short initialization window (~2 mins)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4388" y="5493544"/>
            <a:ext cx="2266350" cy="14288"/>
            <a:chOff x="0" y="0"/>
            <a:chExt cx="30218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80737" y="5493544"/>
            <a:ext cx="3507800" cy="14288"/>
            <a:chOff x="0" y="0"/>
            <a:chExt cx="4677067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8547" y="5493544"/>
            <a:ext cx="4313034" cy="14288"/>
            <a:chOff x="0" y="0"/>
            <a:chExt cx="5750712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01582" y="5493544"/>
            <a:ext cx="4444746" cy="14288"/>
            <a:chOff x="0" y="0"/>
            <a:chExt cx="5926328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346337" y="5493544"/>
            <a:ext cx="2127275" cy="14288"/>
            <a:chOff x="0" y="0"/>
            <a:chExt cx="2836367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14388" y="6507956"/>
            <a:ext cx="2266350" cy="14288"/>
            <a:chOff x="0" y="0"/>
            <a:chExt cx="302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80737" y="6507956"/>
            <a:ext cx="3507800" cy="14288"/>
            <a:chOff x="0" y="0"/>
            <a:chExt cx="4677067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8547" y="6507956"/>
            <a:ext cx="4313034" cy="14288"/>
            <a:chOff x="0" y="0"/>
            <a:chExt cx="575071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01582" y="6507956"/>
            <a:ext cx="4444746" cy="14288"/>
            <a:chOff x="0" y="0"/>
            <a:chExt cx="5926328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346337" y="6507956"/>
            <a:ext cx="2127275" cy="14288"/>
            <a:chOff x="0" y="0"/>
            <a:chExt cx="2836367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14388" y="7522369"/>
            <a:ext cx="2266350" cy="14288"/>
            <a:chOff x="0" y="0"/>
            <a:chExt cx="30218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80737" y="7522369"/>
            <a:ext cx="3507800" cy="14288"/>
            <a:chOff x="0" y="0"/>
            <a:chExt cx="4677067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88547" y="7522369"/>
            <a:ext cx="4313034" cy="14288"/>
            <a:chOff x="0" y="0"/>
            <a:chExt cx="5750712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01582" y="7522369"/>
            <a:ext cx="4444746" cy="14288"/>
            <a:chOff x="0" y="0"/>
            <a:chExt cx="5926328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346337" y="7522369"/>
            <a:ext cx="2127275" cy="14288"/>
            <a:chOff x="0" y="0"/>
            <a:chExt cx="2836367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533637" y="4702969"/>
            <a:ext cx="1612925" cy="600075"/>
            <a:chOff x="0" y="0"/>
            <a:chExt cx="2150567" cy="8001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" t="0" r="-46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603512" y="5843588"/>
            <a:ext cx="1543050" cy="342900"/>
            <a:chOff x="0" y="0"/>
            <a:chExt cx="2057400" cy="4572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57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2" t="0" r="-46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603512" y="6729412"/>
            <a:ext cx="1612925" cy="600075"/>
            <a:chOff x="0" y="0"/>
            <a:chExt cx="2150567" cy="8001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71562" y="7743825"/>
            <a:ext cx="1752000" cy="600075"/>
            <a:chOff x="0" y="0"/>
            <a:chExt cx="2336000" cy="8001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336038" cy="800100"/>
            </a:xfrm>
            <a:custGeom>
              <a:avLst/>
              <a:gdLst/>
              <a:ahLst/>
              <a:cxnLst/>
              <a:rect r="r" b="b" t="t" l="l"/>
              <a:pathLst>
                <a:path h="800100" w="2336038">
                  <a:moveTo>
                    <a:pt x="0" y="0"/>
                  </a:moveTo>
                  <a:lnTo>
                    <a:pt x="2336038" y="0"/>
                  </a:lnTo>
                  <a:lnTo>
                    <a:pt x="233603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2" t="0" r="-151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603512" y="7743825"/>
            <a:ext cx="1612925" cy="600075"/>
            <a:chOff x="0" y="0"/>
            <a:chExt cx="2150567" cy="8001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8" t="0" r="-46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00100" y="1509712"/>
            <a:ext cx="1748790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Research &amp; Prior Art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2257425"/>
            <a:ext cx="8143875" cy="1957388"/>
            <a:chOff x="0" y="0"/>
            <a:chExt cx="10858500" cy="2609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58500" cy="2609850"/>
            </a:xfrm>
            <a:custGeom>
              <a:avLst/>
              <a:gdLst/>
              <a:ahLst/>
              <a:cxnLst/>
              <a:rect r="r" b="b" t="t" l="l"/>
              <a:pathLst>
                <a:path h="26098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609850"/>
                  </a:lnTo>
                  <a:lnTo>
                    <a:pt x="0" y="260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443412"/>
            <a:ext cx="8143875" cy="3557588"/>
            <a:chOff x="0" y="0"/>
            <a:chExt cx="10858500" cy="4743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58500" cy="4743450"/>
            </a:xfrm>
            <a:custGeom>
              <a:avLst/>
              <a:gdLst/>
              <a:ahLst/>
              <a:cxnLst/>
              <a:rect r="r" b="b" t="t" l="l"/>
              <a:pathLst>
                <a:path h="47434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4743450"/>
                  </a:lnTo>
                  <a:lnTo>
                    <a:pt x="0" y="474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14375" y="1281112"/>
            <a:ext cx="8551069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Proposed Approach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29750" y="0"/>
            <a:ext cx="8858250" cy="10287000"/>
            <a:chOff x="0" y="0"/>
            <a:chExt cx="11811000" cy="13716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181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375" y="6191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22269" y="626421"/>
            <a:ext cx="2135981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4462" y="2547937"/>
            <a:ext cx="25745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Solution Concept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412" y="2995613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An end-to-end Adaptive Spatial-Temporal Graph Neural Network (AST-GNN) deployed directly on edge gateway nodes.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462" y="4695825"/>
            <a:ext cx="461382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Major Components &amp; Workflow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4412" y="2600325"/>
            <a:ext cx="214312" cy="285750"/>
            <a:chOff x="0" y="0"/>
            <a:chExt cx="28575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4412" y="4786312"/>
            <a:ext cx="257175" cy="285750"/>
            <a:chOff x="0" y="0"/>
            <a:chExt cx="34290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14462" y="5181600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Graph Topology Learning:</a:t>
            </a: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Dynamically maps relationship matrices between physical sensors.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462" y="5995987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ONNX Tensor Quantization:</a:t>
            </a: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Reduces model memory size by 75% for sub-15ms edge inference.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462" y="6810375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Online Adaptive Thresholding:</a:t>
            </a: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Continuously adjusts alert triggers to prevent false alarms.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4412" y="5286375"/>
            <a:ext cx="114300" cy="185738"/>
            <a:chOff x="0" y="0"/>
            <a:chExt cx="152400" cy="2476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412" y="6100762"/>
            <a:ext cx="114300" cy="185738"/>
            <a:chOff x="0" y="0"/>
            <a:chExt cx="152400" cy="2476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4412" y="6915150"/>
            <a:ext cx="114300" cy="185738"/>
            <a:chOff x="0" y="0"/>
            <a:chExt cx="15240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771900"/>
            <a:ext cx="8347979" cy="4641010"/>
            <a:chOff x="0" y="0"/>
            <a:chExt cx="10896600" cy="6057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966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8344" y="3771900"/>
            <a:ext cx="8347979" cy="4641010"/>
            <a:chOff x="0" y="0"/>
            <a:chExt cx="10896600" cy="6057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966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602" y="4117709"/>
            <a:ext cx="3495656" cy="39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50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Technical 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1846" y="4117709"/>
            <a:ext cx="3160441" cy="39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50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Security &amp; Data Flow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4959" y="4180542"/>
            <a:ext cx="335670" cy="291887"/>
            <a:chOff x="0" y="0"/>
            <a:chExt cx="43815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73602" y="4653859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Ingestion Tier: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High-performance C++/Go gRPC &amp; MQTT listeners handling 50k events/sec.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602" y="5485738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Inference Engine: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TensorRT / ONNX Runtime execution pipeline containerized via Docker.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3602" y="6317617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Storage Layer: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SQLite / TimescaleDB localized storage for high-speed edge telemetry logging.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3602" y="7149496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Visualization: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Lightweight WebSockets-driven React frontend &amp; Grafana dashboards.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63203" y="4180542"/>
            <a:ext cx="291887" cy="291887"/>
            <a:chOff x="0" y="0"/>
            <a:chExt cx="38100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71846" y="4653859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Encryption: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TLS 1.3 encrypted data transit between SCADA sensors and Edge runtime.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71846" y="5485738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Zero Trust: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Token-based mTLS authentication across local microservice APIs.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1846" y="6317617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Fallback Resilience: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Automatic local storage buffering during network outage events.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71846" y="7149496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rPr lang="en-US" sz="1928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Hardware Isolation:</a:t>
            </a:r>
            <a:r>
              <a:rPr lang="en-US" sz="1928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Container execution sandboxing with dedicated resource quotas.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0100" y="2085975"/>
            <a:ext cx="52183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42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4959" y="4749723"/>
            <a:ext cx="116755" cy="189727"/>
            <a:chOff x="0" y="0"/>
            <a:chExt cx="152400" cy="2476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959" y="5581602"/>
            <a:ext cx="116755" cy="189727"/>
            <a:chOff x="0" y="0"/>
            <a:chExt cx="15240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4959" y="6413481"/>
            <a:ext cx="116755" cy="189727"/>
            <a:chOff x="0" y="0"/>
            <a:chExt cx="152400" cy="2476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4959" y="7245360"/>
            <a:ext cx="116755" cy="189727"/>
            <a:chOff x="0" y="0"/>
            <a:chExt cx="152400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63203" y="4749723"/>
            <a:ext cx="116755" cy="189727"/>
            <a:chOff x="0" y="0"/>
            <a:chExt cx="152400" cy="2476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63203" y="5581602"/>
            <a:ext cx="116755" cy="189727"/>
            <a:chOff x="0" y="0"/>
            <a:chExt cx="152400" cy="2476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63203" y="6413481"/>
            <a:ext cx="116755" cy="189727"/>
            <a:chOff x="0" y="0"/>
            <a:chExt cx="152400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63203" y="7245360"/>
            <a:ext cx="116755" cy="189727"/>
            <a:chOff x="0" y="0"/>
            <a:chExt cx="15240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818334"/>
            <a:ext cx="5372100" cy="1857375"/>
            <a:chOff x="0" y="0"/>
            <a:chExt cx="7162800" cy="2476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7950" y="3818334"/>
            <a:ext cx="5372100" cy="1857375"/>
            <a:chOff x="0" y="0"/>
            <a:chExt cx="7162800" cy="2476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800" y="3818334"/>
            <a:ext cx="5372100" cy="1857375"/>
            <a:chOff x="0" y="0"/>
            <a:chExt cx="7162800" cy="2476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0100" y="5961459"/>
            <a:ext cx="8172450" cy="2307431"/>
            <a:chOff x="0" y="0"/>
            <a:chExt cx="10896600" cy="307657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96600" cy="3076575"/>
            </a:xfrm>
            <a:custGeom>
              <a:avLst/>
              <a:gdLst/>
              <a:ahLst/>
              <a:cxnLst/>
              <a:rect r="r" b="b" t="t" l="l"/>
              <a:pathLst>
                <a:path h="307657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76575"/>
                  </a:lnTo>
                  <a:lnTo>
                    <a:pt x="0" y="3076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4" r="0" b="-15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5450" y="5961459"/>
            <a:ext cx="8172450" cy="2307431"/>
            <a:chOff x="0" y="0"/>
            <a:chExt cx="10896600" cy="30765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96600" cy="3076575"/>
            </a:xfrm>
            <a:custGeom>
              <a:avLst/>
              <a:gdLst/>
              <a:ahLst/>
              <a:cxnLst/>
              <a:rect r="r" b="b" t="t" l="l"/>
              <a:pathLst>
                <a:path h="307657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76575"/>
                  </a:lnTo>
                  <a:lnTo>
                    <a:pt x="0" y="3076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4" r="0" b="-15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075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85%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728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REDUCTION IN FALSE ALERTS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1513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075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&lt;12ms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1513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EDGE INFERENCE SPEED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298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075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10x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298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LOWER COMPUTE FOOTPRINT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3317" y="6309122"/>
            <a:ext cx="236755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Core 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7288" y="6756797"/>
            <a:ext cx="7458075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 b="true">
                <a:solidFill>
                  <a:srgbClr val="2D3748"/>
                </a:solidFill>
                <a:latin typeface="Arimo Bold"/>
                <a:ea typeface="Arimo Bold"/>
                <a:cs typeface="Arimo Bold"/>
                <a:sym typeface="Arimo Bold"/>
              </a:rPr>
              <a:t>What is genuinely different?</a:t>
            </a: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 Our architecture continuously self-learns inter-sensor graph structures without offline retraining, enabling true zero-maintenance edge AI deployments.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4138" y="6309122"/>
            <a:ext cx="25407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Technical Insight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2638" y="6756797"/>
            <a:ext cx="7458075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By coupling Graph Attention Networks (GAT) with dynamic quantile loss functions, the model distinguishes harmless operational shifts from genuine physical component degradation.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57288" y="6361509"/>
            <a:ext cx="328612" cy="285750"/>
            <a:chOff x="0" y="0"/>
            <a:chExt cx="438150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72638" y="6361509"/>
            <a:ext cx="285750" cy="285750"/>
            <a:chOff x="0" y="0"/>
            <a:chExt cx="3810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72716" y="2037159"/>
            <a:ext cx="48839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Innovation &amp; Impact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114675"/>
            <a:ext cx="8201025" cy="2786062"/>
            <a:chOff x="0" y="0"/>
            <a:chExt cx="10934700" cy="3714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75" y="3114675"/>
            <a:ext cx="8201025" cy="2786062"/>
            <a:chOff x="0" y="0"/>
            <a:chExt cx="10934700" cy="3714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6186488"/>
            <a:ext cx="8201025" cy="2786062"/>
            <a:chOff x="0" y="0"/>
            <a:chExt cx="10934700" cy="3714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6875" y="6186488"/>
            <a:ext cx="8201025" cy="2786062"/>
            <a:chOff x="0" y="0"/>
            <a:chExt cx="10934700" cy="37147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712" y="3443288"/>
            <a:ext cx="685800" cy="685800"/>
            <a:chOff x="0" y="0"/>
            <a:chExt cx="9144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28712" y="4291013"/>
            <a:ext cx="29735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Target Beneficiaries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712" y="4738687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Smart factory plant operators, energy grid managers, industrial robotics hubs, and predictive maintenance engineering teams.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15488" y="3443288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15488" y="4291013"/>
            <a:ext cx="311140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Deployment 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488" y="4738687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Deployable via lightweight K3s/MicroK8s helm charts onto industrial edge gateways (Nvidia Jetson, Advantech IPCs).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8712" y="6515100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8712" y="7362825"/>
            <a:ext cx="30252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Measurable Benefits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" y="7810500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Estimated savings of $40k+ per machine line by preventing unscheduled breakdown hours and reducing manual inspection cycles.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15488" y="6515100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15488" y="7362825"/>
            <a:ext cx="385375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Moving Beyond Prototype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15488" y="7810500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1887">
                <a:solidFill>
                  <a:srgbClr val="2D3748"/>
                </a:solidFill>
                <a:latin typeface="Arimo"/>
                <a:ea typeface="Arimo"/>
                <a:cs typeface="Arimo"/>
                <a:sym typeface="Arimo"/>
              </a:rPr>
              <a:t>Integrating native OPC-UA / Modbus protocols, securing ISO 27001 compliance, and performing hardware-in-the-loop stress testing.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35869" y="3600450"/>
            <a:ext cx="471488" cy="371475"/>
            <a:chOff x="0" y="0"/>
            <a:chExt cx="628650" cy="4953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628650" cy="495300"/>
            </a:xfrm>
            <a:custGeom>
              <a:avLst/>
              <a:gdLst/>
              <a:ahLst/>
              <a:cxnLst/>
              <a:rect r="r" b="b" t="t" l="l"/>
              <a:pathLst>
                <a:path h="4953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515" t="0" r="-1515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2650" y="3600450"/>
            <a:ext cx="371475" cy="371475"/>
            <a:chOff x="0" y="0"/>
            <a:chExt cx="495300" cy="4953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875" y="6672262"/>
            <a:ext cx="371475" cy="371475"/>
            <a:chOff x="0" y="0"/>
            <a:chExt cx="495300" cy="4953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72650" y="6672262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00100" y="1897856"/>
            <a:ext cx="590669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Deployment &amp;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968353"/>
            <a:ext cx="16687800" cy="4150519"/>
            <a:chOff x="0" y="0"/>
            <a:chExt cx="22250400" cy="55340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5534025"/>
            </a:xfrm>
            <a:custGeom>
              <a:avLst/>
              <a:gdLst/>
              <a:ahLst/>
              <a:cxnLst/>
              <a:rect r="r" b="b" t="t" l="l"/>
              <a:pathLst>
                <a:path h="553402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5534025"/>
                  </a:lnTo>
                  <a:lnTo>
                    <a:pt x="0" y="5534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8" r="0" b="-25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96286" y="3982640"/>
          <a:ext cx="17337525" cy="4676120"/>
        </p:xfrm>
        <a:graphic>
          <a:graphicData uri="http://schemas.openxmlformats.org/drawingml/2006/table">
            <a:tbl>
              <a:tblPr/>
              <a:tblGrid>
                <a:gridCol w="3053071"/>
                <a:gridCol w="7861643"/>
                <a:gridCol w="6422811"/>
              </a:tblGrid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Category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Reference Source / Technology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Utilization in Project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Research Papers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"Multivariate Time-Series Anomaly Detection via Graph Neural Networks" (AAAI 2021)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Inspiration for spatio-temporal graph attention mechanics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Open-Source Frameworks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PyTorch Geometric (PyG), ONNX Runtime, C++ gRPC Core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Graph neural network training &amp; high-speed edge inference engine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Industry Standards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OPC-UA Telemetry Spec &amp; IEEE 1451 Smart Sensor Architecture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Data ingestion normalization and industrial protocol mapping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Benchmark Datasets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SWaT (Secure Water Treatment) &amp; WADI Industrial Testbeds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training, validation, and multi-sensor drift simulation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4388" y="5654278"/>
            <a:ext cx="2933624" cy="14288"/>
            <a:chOff x="0" y="0"/>
            <a:chExt cx="3911498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48011" y="5654278"/>
            <a:ext cx="7554068" cy="14288"/>
            <a:chOff x="0" y="0"/>
            <a:chExt cx="10072091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02079" y="5654278"/>
            <a:ext cx="6171533" cy="14288"/>
            <a:chOff x="0" y="0"/>
            <a:chExt cx="8228711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14388" y="6668691"/>
            <a:ext cx="2933624" cy="14288"/>
            <a:chOff x="0" y="0"/>
            <a:chExt cx="3911498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48011" y="6668691"/>
            <a:ext cx="7554068" cy="14288"/>
            <a:chOff x="0" y="0"/>
            <a:chExt cx="10072091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02079" y="6668691"/>
            <a:ext cx="6171533" cy="14288"/>
            <a:chOff x="0" y="0"/>
            <a:chExt cx="8228711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14388" y="7383066"/>
            <a:ext cx="2933624" cy="14288"/>
            <a:chOff x="0" y="0"/>
            <a:chExt cx="3911498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748011" y="7383066"/>
            <a:ext cx="7554068" cy="14288"/>
            <a:chOff x="0" y="0"/>
            <a:chExt cx="10072091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02079" y="7383066"/>
            <a:ext cx="6171533" cy="14288"/>
            <a:chOff x="0" y="0"/>
            <a:chExt cx="8228711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84026" y="2158008"/>
            <a:ext cx="525527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Technical References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000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0" y="3321844"/>
            <a:ext cx="11430000" cy="4543425"/>
            <a:chOff x="0" y="0"/>
            <a:chExt cx="15240000" cy="6057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2400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" r="0" b="-15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29088" y="6607969"/>
            <a:ext cx="10029825" cy="557212"/>
            <a:chOff x="0" y="0"/>
            <a:chExt cx="13373100" cy="742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373100" cy="742950"/>
            </a:xfrm>
            <a:custGeom>
              <a:avLst/>
              <a:gdLst/>
              <a:ahLst/>
              <a:cxnLst/>
              <a:rect r="r" b="b" t="t" l="l"/>
              <a:pathLst>
                <a:path h="742950" w="13373100">
                  <a:moveTo>
                    <a:pt x="0" y="0"/>
                  </a:moveTo>
                  <a:lnTo>
                    <a:pt x="13373100" y="0"/>
                  </a:lnTo>
                  <a:lnTo>
                    <a:pt x="133731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6" r="0" b="-113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100" y="742950"/>
            <a:ext cx="3943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9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6062" y="769296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78342" y="4031456"/>
            <a:ext cx="1053131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6499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9088" y="5188744"/>
            <a:ext cx="10029825" cy="41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224">
                <a:solidFill>
                  <a:srgbClr val="5C248B"/>
                </a:solidFill>
                <a:latin typeface="Arimo"/>
                <a:ea typeface="Arimo"/>
                <a:cs typeface="Arimo"/>
                <a:sym typeface="Arimo"/>
              </a:rPr>
              <a:t>Ready for Questions &amp;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7019" y="5974556"/>
            <a:ext cx="503396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887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Team Smasherz | Problem Code: CF-26 S-03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28441" y="6922294"/>
            <a:ext cx="1889941" cy="359049"/>
            <a:chOff x="0" y="0"/>
            <a:chExt cx="2519922" cy="4787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19922" cy="478732"/>
            </a:xfrm>
            <a:custGeom>
              <a:avLst/>
              <a:gdLst/>
              <a:ahLst/>
              <a:cxnLst/>
              <a:rect r="r" b="b" t="t" l="l"/>
              <a:pathLst>
                <a:path h="478732" w="2519922">
                  <a:moveTo>
                    <a:pt x="0" y="0"/>
                  </a:moveTo>
                  <a:lnTo>
                    <a:pt x="2519922" y="0"/>
                  </a:lnTo>
                  <a:lnTo>
                    <a:pt x="2519922" y="478732"/>
                  </a:lnTo>
                  <a:lnTo>
                    <a:pt x="0" y="4787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577" r="13818" b="-242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519922" cy="497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9"/>
                </a:lnSpc>
              </a:pPr>
              <a:r>
                <a:rPr lang="en-US" sz="1774" b="true">
                  <a:solidFill>
                    <a:srgbClr val="4A55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GHRCEM Nagpur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70697" y="6908006"/>
            <a:ext cx="286637" cy="286637"/>
            <a:chOff x="0" y="0"/>
            <a:chExt cx="266700" cy="266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71" t="0" r="-357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25678" y="6936581"/>
            <a:ext cx="202763" cy="258062"/>
            <a:chOff x="0" y="0"/>
            <a:chExt cx="20955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45" t="0" r="-4545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553493" y="6850062"/>
            <a:ext cx="1957685" cy="35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1887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github.com/tushartiple24/CF26-S03-Smasherz"/>
              </a:rPr>
              <a:t>GitHub</a:t>
            </a:r>
            <a:r>
              <a:rPr lang="en-US" sz="18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DAHTRjJN4BU</dc:identifier>
  <dcterms:modified xsi:type="dcterms:W3CDTF">2011-08-01T06:04:30Z</dcterms:modified>
  <cp:revision>1</cp:revision>
  <dc:title>Code Forge Pitch Deck.pptx</dc:title>
</cp:coreProperties>
</file>